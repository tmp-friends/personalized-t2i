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g"/><Relationship Id="rId3" Type="http://schemas.openxmlformats.org/officeDocument/2006/relationships/image" Target="../media/image-1-3.png"/><Relationship Id="rId4" Type="http://schemas.openxmlformats.org/officeDocument/2006/relationships/image" Target="../media/image-1-4.jpg"/><Relationship Id="rId5" Type="http://schemas.openxmlformats.org/officeDocument/2006/relationships/image" Target="../media/image-1-5.jpg"/><Relationship Id="rId6" Type="http://schemas.openxmlformats.org/officeDocument/2006/relationships/image" Target="../media/image-1-6.jpg"/><Relationship Id="rId7" Type="http://schemas.openxmlformats.org/officeDocument/2006/relationships/image" Target="../media/image-1-7.jpg"/><Relationship Id="rId8" Type="http://schemas.openxmlformats.org/officeDocument/2006/relationships/image" Target="../media/image-1-8.jpg"/><Relationship Id="rId9" Type="http://schemas.openxmlformats.org/officeDocument/2006/relationships/image" Target="../media/image-1-9.jpg"/><Relationship Id="rId10" Type="http://schemas.openxmlformats.org/officeDocument/2006/relationships/image" Target="../media/image-1-10.jpg"/><Relationship Id="rId11" Type="http://schemas.openxmlformats.org/officeDocument/2006/relationships/image" Target="../media/image-1-11.jpg"/><Relationship Id="rId12" Type="http://schemas.openxmlformats.org/officeDocument/2006/relationships/image" Target="../media/image-1-12.jpg"/><Relationship Id="rId13" Type="http://schemas.openxmlformats.org/officeDocument/2006/relationships/image" Target="../media/image-1-13.jpg"/><Relationship Id="rId14" Type="http://schemas.openxmlformats.org/officeDocument/2006/relationships/image" Target="../media/image-1-14.jpg"/><Relationship Id="rId15" Type="http://schemas.openxmlformats.org/officeDocument/2006/relationships/image" Target="../media/image-1-15.jpg"/><Relationship Id="rId16" Type="http://schemas.openxmlformats.org/officeDocument/2006/relationships/image" Target="../media/image-1-16.jpg"/><Relationship Id="rId17" Type="http://schemas.openxmlformats.org/officeDocument/2006/relationships/image" Target="../media/image-1-17.jpg"/><Relationship Id="rId18" Type="http://schemas.openxmlformats.org/officeDocument/2006/relationships/image" Target="../media/image-1-18.jpg"/><Relationship Id="rId19" Type="http://schemas.openxmlformats.org/officeDocument/2006/relationships/image" Target="../media/image-1-19.jpg"/><Relationship Id="rId20" Type="http://schemas.openxmlformats.org/officeDocument/2006/relationships/image" Target="../media/image-1-20.jp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jp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0D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411480"/>
            <a:ext cx="3703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80"/>
              </a:lnSpc>
              <a:buNone/>
            </a:pPr>
            <a:r>
              <a:rPr lang="en-US" sz="2400" b="1" dirty="0">
                <a:solidFill>
                  <a:srgbClr val="F8F1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好きな絵を選ぶだけ。</a:t>
            </a:r>
            <a:pPr algn="l" indent="0" marL="0">
              <a:lnSpc>
                <a:spcPts val="2980"/>
              </a:lnSpc>
              <a:buNone/>
            </a:pPr>
            <a:endParaRPr lang="en-US" sz="2400" dirty="0"/>
          </a:p>
          <a:p>
            <a:pPr algn="l" indent="0" marL="0">
              <a:lnSpc>
                <a:spcPts val="2980"/>
              </a:lnSpc>
              <a:buNone/>
            </a:pPr>
            <a:r>
              <a:rPr lang="en-US" sz="2400" b="1" dirty="0">
                <a:solidFill>
                  <a:srgbClr val="F8F1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あなた好みに描く、</a:t>
            </a:r>
            <a:pPr algn="l" indent="0" marL="0">
              <a:lnSpc>
                <a:spcPts val="2980"/>
              </a:lnSpc>
              <a:buNone/>
            </a:pPr>
            <a:endParaRPr lang="en-US" sz="2400" dirty="0"/>
          </a:p>
          <a:p>
            <a:pPr algn="l" indent="0" marL="0">
              <a:lnSpc>
                <a:spcPts val="2980"/>
              </a:lnSpc>
              <a:buNone/>
            </a:pPr>
            <a:r>
              <a:rPr lang="en-US" sz="2400" b="1" dirty="0">
                <a:solidFill>
                  <a:srgbClr val="FF9A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パーソナライズ画像生成。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1837944"/>
            <a:ext cx="3566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AB9F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好きな絵を数枚選ぶだけで、あなたの好みを反映した画像をその場で生成します。入力文や生成モデルは変えず、絵がどこまで「あなた好み」に寄るのかを、パーソナライズなしの結果と並べて見比べられます。</a:t>
            </a:r>
            <a:endParaRPr lang="en-US" sz="900" dirty="0"/>
          </a:p>
        </p:txBody>
      </p:sp>
      <p:pic>
        <p:nvPicPr>
          <p:cNvPr id="4" name="Image 0" descr="/tmp/claude-1000/-home-tomoya-stable-diffusion-personalized-t2i/0770d818-38a0-4eb6-a96d-f7206b93f0e9/scratchpad/flyer/img/hero-plai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87368" y="411480"/>
            <a:ext cx="1481328" cy="1851660"/>
          </a:xfrm>
          <a:prstGeom prst="rect">
            <a:avLst/>
          </a:prstGeom>
        </p:spPr>
      </p:pic>
      <p:pic>
        <p:nvPicPr>
          <p:cNvPr id="5" name="Image 1" descr="/tmp/claude-1000/-home-tomoya-stable-diffusion-personalized-t2i/0770d818-38a0-4eb6-a96d-f7206b93f0e9/scratchpad/flyer/img/hero-min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411480"/>
            <a:ext cx="1481328" cy="18516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160520" y="1961388"/>
            <a:ext cx="1133856" cy="228600"/>
          </a:xfrm>
          <a:prstGeom prst="roundRect">
            <a:avLst>
              <a:gd name="adj" fmla="val 50000"/>
            </a:avLst>
          </a:prstGeom>
          <a:solidFill>
            <a:srgbClr val="191514"/>
          </a:solidFill>
          <a:ln w="12700">
            <a:solidFill>
              <a:srgbClr val="191514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4160520" y="1961388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680" b="1" dirty="0">
                <a:solidFill>
                  <a:srgbClr val="F8F1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パーソナライズなし</a:t>
            </a:r>
            <a:endParaRPr lang="en-US" sz="680" dirty="0"/>
          </a:p>
        </p:txBody>
      </p:sp>
      <p:pic>
        <p:nvPicPr>
          <p:cNvPr id="8" name="Image 2" descr="/tmp/claude-1000/-home-tomoya-stable-diffusion-personalized-t2i/0770d818-38a0-4eb6-a96d-f7206b93f0e9/scratchpad/flyer/img/grad-pil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8152" y="1961388"/>
            <a:ext cx="1005840" cy="22860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5788152" y="196138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680" b="1" dirty="0">
                <a:solidFill>
                  <a:srgbClr val="1A0E0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パーソナライズあり</a:t>
            </a:r>
            <a:endParaRPr lang="en-US" sz="680" dirty="0"/>
          </a:p>
        </p:txBody>
      </p:sp>
      <p:sp>
        <p:nvSpPr>
          <p:cNvPr id="10" name="Shape 5"/>
          <p:cNvSpPr/>
          <p:nvPr/>
        </p:nvSpPr>
        <p:spPr>
          <a:xfrm>
            <a:off x="365760" y="2743200"/>
            <a:ext cx="2191512" cy="1298448"/>
          </a:xfrm>
          <a:prstGeom prst="roundRect">
            <a:avLst>
              <a:gd name="adj" fmla="val 8451"/>
            </a:avLst>
          </a:prstGeom>
          <a:solidFill>
            <a:srgbClr val="191514"/>
          </a:solidFill>
          <a:ln w="9525">
            <a:solidFill>
              <a:srgbClr val="30282A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512064" y="285292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9A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750" dirty="0"/>
          </a:p>
        </p:txBody>
      </p:sp>
      <p:sp>
        <p:nvSpPr>
          <p:cNvPr id="12" name="Text 7"/>
          <p:cNvSpPr txBox="1"/>
          <p:nvPr/>
        </p:nvSpPr>
        <p:spPr>
          <a:xfrm>
            <a:off x="512064" y="3035808"/>
            <a:ext cx="1898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F8F1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好きな画像を選ぶ</a:t>
            </a:r>
            <a:endParaRPr lang="en-US" sz="1150" dirty="0"/>
          </a:p>
        </p:txBody>
      </p:sp>
      <p:sp>
        <p:nvSpPr>
          <p:cNvPr id="13" name="Text 8"/>
          <p:cNvSpPr txBox="1"/>
          <p:nvPr/>
        </p:nvSpPr>
        <p:spPr>
          <a:xfrm>
            <a:off x="512064" y="3328416"/>
            <a:ext cx="1898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00" dirty="0">
                <a:solidFill>
                  <a:srgbClr val="AB9F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12枚ずつ最大3回、合計3〜10枚。選んだ画像は「全部好き」から、色・光・描画・雰囲気のどこが好きかを絞れます。強さは 1 / 2 の2段階。</a:t>
            </a:r>
            <a:endParaRPr lang="en-US" sz="800" dirty="0"/>
          </a:p>
        </p:txBody>
      </p:sp>
      <p:sp>
        <p:nvSpPr>
          <p:cNvPr id="14" name="Shape 9"/>
          <p:cNvSpPr/>
          <p:nvPr/>
        </p:nvSpPr>
        <p:spPr>
          <a:xfrm>
            <a:off x="2685288" y="2743200"/>
            <a:ext cx="2191512" cy="1298448"/>
          </a:xfrm>
          <a:prstGeom prst="roundRect">
            <a:avLst>
              <a:gd name="adj" fmla="val 8451"/>
            </a:avLst>
          </a:prstGeom>
          <a:solidFill>
            <a:srgbClr val="191514"/>
          </a:solidFill>
          <a:ln w="9525">
            <a:solidFill>
              <a:srgbClr val="30282A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2831592" y="285292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9A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750" dirty="0"/>
          </a:p>
        </p:txBody>
      </p:sp>
      <p:sp>
        <p:nvSpPr>
          <p:cNvPr id="16" name="Text 11"/>
          <p:cNvSpPr txBox="1"/>
          <p:nvPr/>
        </p:nvSpPr>
        <p:spPr>
          <a:xfrm>
            <a:off x="2831592" y="3035808"/>
            <a:ext cx="1898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F8F1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お題を選ぶ</a:t>
            </a:r>
            <a:endParaRPr lang="en-US" sz="1150" dirty="0"/>
          </a:p>
        </p:txBody>
      </p:sp>
      <p:sp>
        <p:nvSpPr>
          <p:cNvPr id="17" name="Text 12"/>
          <p:cNvSpPr txBox="1"/>
          <p:nvPr/>
        </p:nvSpPr>
        <p:spPr>
          <a:xfrm>
            <a:off x="2831592" y="3328416"/>
            <a:ext cx="1898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00" dirty="0">
                <a:solidFill>
                  <a:srgbClr val="AB9F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6つのお題から1つ。「窓辺で猫と過ごす少女」「東京の夜景と青年」「森を旅する魔法使い」「雨の街角の少女」など。入力文は誰でも同じです。</a:t>
            </a:r>
            <a:endParaRPr lang="en-US" sz="800" dirty="0"/>
          </a:p>
        </p:txBody>
      </p:sp>
      <p:sp>
        <p:nvSpPr>
          <p:cNvPr id="18" name="Shape 13"/>
          <p:cNvSpPr/>
          <p:nvPr/>
        </p:nvSpPr>
        <p:spPr>
          <a:xfrm>
            <a:off x="5004816" y="2743200"/>
            <a:ext cx="2191512" cy="1298448"/>
          </a:xfrm>
          <a:prstGeom prst="roundRect">
            <a:avLst>
              <a:gd name="adj" fmla="val 8451"/>
            </a:avLst>
          </a:prstGeom>
          <a:solidFill>
            <a:srgbClr val="191514"/>
          </a:solidFill>
          <a:ln w="9525">
            <a:solidFill>
              <a:srgbClr val="30282A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5151120" y="285292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9A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750" dirty="0"/>
          </a:p>
        </p:txBody>
      </p:sp>
      <p:sp>
        <p:nvSpPr>
          <p:cNvPr id="20" name="Text 15"/>
          <p:cNvSpPr txBox="1"/>
          <p:nvPr/>
        </p:nvSpPr>
        <p:spPr>
          <a:xfrm>
            <a:off x="5151120" y="3035808"/>
            <a:ext cx="1898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F8F1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見比べる</a:t>
            </a:r>
            <a:endParaRPr lang="en-US" sz="1150" dirty="0"/>
          </a:p>
        </p:txBody>
      </p:sp>
      <p:sp>
        <p:nvSpPr>
          <p:cNvPr id="21" name="Text 16"/>
          <p:cNvSpPr txBox="1"/>
          <p:nvPr/>
        </p:nvSpPr>
        <p:spPr>
          <a:xfrm>
            <a:off x="5151120" y="3328416"/>
            <a:ext cx="1898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800" dirty="0">
                <a:solidFill>
                  <a:srgbClr val="AB9F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パーソナライズなし4枚と、あり4枚を同じ seed の順で並べます。結果の下で好みや強さを調整して、同じお題・同じ seed で描き直せます。</a:t>
            </a:r>
            <a:endParaRPr lang="en-US" sz="800" dirty="0"/>
          </a:p>
        </p:txBody>
      </p:sp>
      <p:sp>
        <p:nvSpPr>
          <p:cNvPr id="22" name="Text 17"/>
          <p:cNvSpPr txBox="1"/>
          <p:nvPr/>
        </p:nvSpPr>
        <p:spPr>
          <a:xfrm>
            <a:off x="365760" y="438912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F8F1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代表的な好みで描いたサンプル</a:t>
            </a:r>
            <a:endParaRPr lang="en-US" sz="1250" dirty="0"/>
          </a:p>
        </p:txBody>
      </p:sp>
      <p:sp>
        <p:nvSpPr>
          <p:cNvPr id="23" name="Text 18"/>
          <p:cNvSpPr txBox="1"/>
          <p:nvPr/>
        </p:nvSpPr>
        <p:spPr>
          <a:xfrm>
            <a:off x="3749040" y="4389120"/>
            <a:ext cx="3447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010"/>
              </a:lnSpc>
              <a:buNone/>
            </a:pPr>
            <a:r>
              <a:rPr lang="en-US" sz="720" dirty="0">
                <a:solidFill>
                  <a:srgbClr val="7569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代表的な選択からの事前生成。来場者の選択を反映した結果ではありません。</a:t>
            </a:r>
            <a:endParaRPr lang="en-US" sz="720" dirty="0"/>
          </a:p>
        </p:txBody>
      </p:sp>
      <p:sp>
        <p:nvSpPr>
          <p:cNvPr id="24" name="Text 19"/>
          <p:cNvSpPr txBox="1"/>
          <p:nvPr/>
        </p:nvSpPr>
        <p:spPr>
          <a:xfrm>
            <a:off x="365760" y="470001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30"/>
              </a:lnSpc>
              <a:buNone/>
            </a:pPr>
            <a:r>
              <a:rPr lang="en-US" sz="880" b="1" dirty="0">
                <a:solidFill>
                  <a:srgbClr val="F8F1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逆光と線のない平塗りを選んだ人 · お題「窓辺で猫と過ごす少女」</a:t>
            </a:r>
            <a:endParaRPr lang="en-US" sz="880" dirty="0"/>
          </a:p>
        </p:txBody>
      </p:sp>
      <p:sp>
        <p:nvSpPr>
          <p:cNvPr id="25" name="Text 20"/>
          <p:cNvSpPr txBox="1"/>
          <p:nvPr/>
        </p:nvSpPr>
        <p:spPr>
          <a:xfrm>
            <a:off x="4023360" y="4700016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850"/>
              </a:lnSpc>
              <a:buNone/>
            </a:pPr>
            <a:r>
              <a:rPr lang="en-US" sz="610" dirty="0">
                <a:solidFill>
                  <a:srgbClr val="7569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Reference Prompt: </a:t>
            </a:r>
            <a:pPr algn="r" indent="0" marL="0">
              <a:lnSpc>
                <a:spcPts val="850"/>
              </a:lnSpc>
              <a:buNone/>
            </a:pPr>
            <a:r>
              <a:rPr lang="en-US" sz="610" dirty="0">
                <a:solidFill>
                  <a:srgbClr val="FF6F9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backlighting, rim light, sun glare · flat color, lineless, no lineart</a:t>
            </a:r>
            <a:endParaRPr lang="en-US" sz="610" dirty="0"/>
          </a:p>
        </p:txBody>
      </p:sp>
      <p:sp>
        <p:nvSpPr>
          <p:cNvPr id="26" name="Text 21"/>
          <p:cNvSpPr txBox="1"/>
          <p:nvPr/>
        </p:nvSpPr>
        <p:spPr>
          <a:xfrm>
            <a:off x="365760" y="495604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660" dirty="0">
                <a:solidFill>
                  <a:srgbClr val="7569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パーソナライズなし · seed 230923 → 230926 の順</a:t>
            </a:r>
            <a:endParaRPr lang="en-US" sz="660" dirty="0"/>
          </a:p>
        </p:txBody>
      </p:sp>
      <p:sp>
        <p:nvSpPr>
          <p:cNvPr id="27" name="Text 22"/>
          <p:cNvSpPr txBox="1"/>
          <p:nvPr/>
        </p:nvSpPr>
        <p:spPr>
          <a:xfrm>
            <a:off x="3872484" y="4956048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660" b="1" dirty="0">
                <a:solidFill>
                  <a:srgbClr val="FF9A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パーソナライズあり</a:t>
            </a:r>
            <a:pPr algn="l" indent="0" marL="0">
              <a:lnSpc>
                <a:spcPts val="920"/>
              </a:lnSpc>
              <a:buNone/>
            </a:pPr>
            <a:r>
              <a:rPr lang="en-US" sz="660" dirty="0">
                <a:solidFill>
                  <a:srgbClr val="7569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· 同じ seed の順 · 上の hero ペアと同じ選択（1枚目が hero）</a:t>
            </a:r>
            <a:endParaRPr lang="en-US" sz="660" dirty="0"/>
          </a:p>
        </p:txBody>
      </p:sp>
      <p:pic>
        <p:nvPicPr>
          <p:cNvPr id="28" name="Image 3" descr="/tmp/claude-1000/-home-tomoya-stable-diffusion-personalized-t2i/0770d818-38a0-4eb6-a96d-f7206b93f0e9/scratchpad/flyer/img/cat-0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5148072"/>
            <a:ext cx="796671" cy="995839"/>
          </a:xfrm>
          <a:prstGeom prst="rect">
            <a:avLst/>
          </a:prstGeom>
        </p:spPr>
      </p:pic>
      <p:pic>
        <p:nvPicPr>
          <p:cNvPr id="29" name="Image 4" descr="/tmp/claude-1000/-home-tomoya-stable-diffusion-personalized-t2i/0770d818-38a0-4eb6-a96d-f7206b93f0e9/scratchpad/flyer/img/s3-cat-0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2484" y="5148072"/>
            <a:ext cx="796671" cy="995839"/>
          </a:xfrm>
          <a:prstGeom prst="rect">
            <a:avLst/>
          </a:prstGeom>
        </p:spPr>
      </p:pic>
      <p:pic>
        <p:nvPicPr>
          <p:cNvPr id="30" name="Image 5" descr="/tmp/claude-1000/-home-tomoya-stable-diffusion-personalized-t2i/0770d818-38a0-4eb6-a96d-f7206b93f0e9/scratchpad/flyer/img/cat-1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8151" y="5148072"/>
            <a:ext cx="796671" cy="995839"/>
          </a:xfrm>
          <a:prstGeom prst="rect">
            <a:avLst/>
          </a:prstGeom>
        </p:spPr>
      </p:pic>
      <p:pic>
        <p:nvPicPr>
          <p:cNvPr id="31" name="Image 6" descr="/tmp/claude-1000/-home-tomoya-stable-diffusion-personalized-t2i/0770d818-38a0-4eb6-a96d-f7206b93f0e9/scratchpad/flyer/img/s3-cat-1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4875" y="5148072"/>
            <a:ext cx="796671" cy="995839"/>
          </a:xfrm>
          <a:prstGeom prst="rect">
            <a:avLst/>
          </a:prstGeom>
        </p:spPr>
      </p:pic>
      <p:pic>
        <p:nvPicPr>
          <p:cNvPr id="32" name="Image 7" descr="/tmp/claude-1000/-home-tomoya-stable-diffusion-personalized-t2i/0770d818-38a0-4eb6-a96d-f7206b93f0e9/scratchpad/flyer/img/cat-2.jp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50542" y="5148072"/>
            <a:ext cx="796671" cy="995839"/>
          </a:xfrm>
          <a:prstGeom prst="rect">
            <a:avLst/>
          </a:prstGeom>
        </p:spPr>
      </p:pic>
      <p:pic>
        <p:nvPicPr>
          <p:cNvPr id="33" name="Image 8" descr="/tmp/claude-1000/-home-tomoya-stable-diffusion-personalized-t2i/0770d818-38a0-4eb6-a96d-f7206b93f0e9/scratchpad/flyer/img/s3-cat-2.jp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57266" y="5148072"/>
            <a:ext cx="796671" cy="995839"/>
          </a:xfrm>
          <a:prstGeom prst="rect">
            <a:avLst/>
          </a:prstGeom>
        </p:spPr>
      </p:pic>
      <p:pic>
        <p:nvPicPr>
          <p:cNvPr id="34" name="Image 9" descr="/tmp/claude-1000/-home-tomoya-stable-diffusion-personalized-t2i/0770d818-38a0-4eb6-a96d-f7206b93f0e9/scratchpad/flyer/img/cat-3.jp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92933" y="5148072"/>
            <a:ext cx="796671" cy="995839"/>
          </a:xfrm>
          <a:prstGeom prst="rect">
            <a:avLst/>
          </a:prstGeom>
        </p:spPr>
      </p:pic>
      <p:pic>
        <p:nvPicPr>
          <p:cNvPr id="35" name="Image 10" descr="/tmp/claude-1000/-home-tomoya-stable-diffusion-personalized-t2i/0770d818-38a0-4eb6-a96d-f7206b93f0e9/scratchpad/flyer/img/s3-cat-3.jp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99657" y="5148072"/>
            <a:ext cx="796671" cy="995839"/>
          </a:xfrm>
          <a:prstGeom prst="rect">
            <a:avLst/>
          </a:prstGeom>
        </p:spPr>
      </p:pic>
      <p:sp>
        <p:nvSpPr>
          <p:cNvPr id="36" name="Text 23"/>
          <p:cNvSpPr txBox="1"/>
          <p:nvPr/>
        </p:nvSpPr>
        <p:spPr>
          <a:xfrm>
            <a:off x="365760" y="6527959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F8F1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選べるカード</a:t>
            </a:r>
            <a:endParaRPr lang="en-US" sz="1250" dirty="0"/>
          </a:p>
        </p:txBody>
      </p:sp>
      <p:sp>
        <p:nvSpPr>
          <p:cNvPr id="37" name="Text 24"/>
          <p:cNvSpPr txBox="1"/>
          <p:nvPr/>
        </p:nvSpPr>
        <p:spPr>
          <a:xfrm>
            <a:off x="3749040" y="6527959"/>
            <a:ext cx="3447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010"/>
              </a:lnSpc>
              <a:buNone/>
            </a:pPr>
            <a:r>
              <a:rPr lang="en-US" sz="720" dirty="0">
                <a:solidFill>
                  <a:srgbClr val="7569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確認済み 62枚 / catalog-v2 · 4被写体（少女・青年・旅人・店員）× 16表現</a:t>
            </a:r>
            <a:endParaRPr lang="en-US" sz="720" dirty="0"/>
          </a:p>
        </p:txBody>
      </p:sp>
      <p:pic>
        <p:nvPicPr>
          <p:cNvPr id="38" name="Image 11" descr="/tmp/claude-1000/-home-tomoya-stable-diffusion-personalized-t2i/0770d818-38a0-4eb6-a96d-f7206b93f0e9/scratchpad/flyer/img/girl-c0-l0-t0-m2.jp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5760" y="6838855"/>
            <a:ext cx="718312" cy="897890"/>
          </a:xfrm>
          <a:prstGeom prst="rect">
            <a:avLst/>
          </a:prstGeom>
        </p:spPr>
      </p:pic>
      <p:sp>
        <p:nvSpPr>
          <p:cNvPr id="39" name="Text 25"/>
          <p:cNvSpPr txBox="1"/>
          <p:nvPr/>
        </p:nvSpPr>
        <p:spPr>
          <a:xfrm>
            <a:off x="365760" y="7764177"/>
            <a:ext cx="718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90"/>
              </a:lnSpc>
              <a:buNone/>
            </a:pPr>
            <a:r>
              <a:rPr lang="en-US" sz="540" dirty="0">
                <a:solidFill>
                  <a:srgbClr val="7569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街角の少女</a:t>
            </a:r>
            <a:pPr algn="l" indent="0" marL="0">
              <a:lnSpc>
                <a:spcPts val="690"/>
              </a:lnSpc>
              <a:buNone/>
            </a:pPr>
            <a:endParaRPr lang="en-US" sz="540" dirty="0"/>
          </a:p>
          <a:p>
            <a:pPr algn="l" indent="0" marL="0">
              <a:lnSpc>
                <a:spcPts val="690"/>
              </a:lnSpc>
              <a:buNone/>
            </a:pPr>
            <a:r>
              <a:rPr lang="en-US" sz="540" dirty="0">
                <a:solidFill>
                  <a:srgbClr val="AB9F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暖かな琥珀色</a:t>
            </a:r>
            <a:pPr algn="l" indent="0" marL="0">
              <a:lnSpc>
                <a:spcPts val="690"/>
              </a:lnSpc>
              <a:buNone/>
            </a:pPr>
            <a:endParaRPr lang="en-US" sz="540" dirty="0"/>
          </a:p>
          <a:p>
            <a:pPr algn="l" indent="0" marL="0">
              <a:lnSpc>
                <a:spcPts val="690"/>
              </a:lnSpc>
              <a:buNone/>
            </a:pPr>
            <a:r>
              <a:rPr lang="en-US" sz="540" dirty="0">
                <a:solidFill>
                  <a:srgbClr val="AB9F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鉛筆のラフスケッチ</a:t>
            </a:r>
            <a:endParaRPr lang="en-US" sz="540" dirty="0"/>
          </a:p>
        </p:txBody>
      </p:sp>
      <p:pic>
        <p:nvPicPr>
          <p:cNvPr id="40" name="Image 12" descr="/tmp/claude-1000/-home-tomoya-stable-diffusion-personalized-t2i/0770d818-38a0-4eb6-a96d-f7206b93f0e9/scratchpad/flyer/img/girl-c1-l1-t3-m1.jp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29792" y="6838855"/>
            <a:ext cx="718312" cy="897890"/>
          </a:xfrm>
          <a:prstGeom prst="rect">
            <a:avLst/>
          </a:prstGeom>
        </p:spPr>
      </p:pic>
      <p:sp>
        <p:nvSpPr>
          <p:cNvPr id="41" name="Text 26"/>
          <p:cNvSpPr txBox="1"/>
          <p:nvPr/>
        </p:nvSpPr>
        <p:spPr>
          <a:xfrm>
            <a:off x="1129792" y="7764177"/>
            <a:ext cx="718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90"/>
              </a:lnSpc>
              <a:buNone/>
            </a:pPr>
            <a:r>
              <a:rPr lang="en-US" sz="540" dirty="0">
                <a:solidFill>
                  <a:srgbClr val="7569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街角の少女</a:t>
            </a:r>
            <a:pPr algn="l" indent="0" marL="0">
              <a:lnSpc>
                <a:spcPts val="690"/>
              </a:lnSpc>
              <a:buNone/>
            </a:pPr>
            <a:endParaRPr lang="en-US" sz="540" dirty="0"/>
          </a:p>
          <a:p>
            <a:pPr algn="l" indent="0" marL="0">
              <a:lnSpc>
                <a:spcPts val="690"/>
              </a:lnSpc>
              <a:buNone/>
            </a:pPr>
            <a:r>
              <a:rPr lang="en-US" sz="540" dirty="0">
                <a:solidFill>
                  <a:srgbClr val="AB9F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青い背景の涼しい色</a:t>
            </a:r>
            <a:pPr algn="l" indent="0" marL="0">
              <a:lnSpc>
                <a:spcPts val="690"/>
              </a:lnSpc>
              <a:buNone/>
            </a:pPr>
            <a:endParaRPr lang="en-US" sz="540" dirty="0"/>
          </a:p>
          <a:p>
            <a:pPr algn="l" indent="0" marL="0">
              <a:lnSpc>
                <a:spcPts val="690"/>
              </a:lnSpc>
              <a:buNone/>
            </a:pPr>
            <a:r>
              <a:rPr lang="en-US" sz="540" dirty="0">
                <a:solidFill>
                  <a:srgbClr val="AB9F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油彩の厚い筆致</a:t>
            </a:r>
            <a:endParaRPr lang="en-US" sz="540" dirty="0"/>
          </a:p>
        </p:txBody>
      </p:sp>
      <p:pic>
        <p:nvPicPr>
          <p:cNvPr id="42" name="Image 13" descr="/tmp/claude-1000/-home-tomoya-stable-diffusion-personalized-t2i/0770d818-38a0-4eb6-a96d-f7206b93f0e9/scratchpad/flyer/img/girl-c3-l1-t2-m2.jp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893824" y="6838855"/>
            <a:ext cx="718312" cy="897890"/>
          </a:xfrm>
          <a:prstGeom prst="rect">
            <a:avLst/>
          </a:prstGeom>
        </p:spPr>
      </p:pic>
      <p:sp>
        <p:nvSpPr>
          <p:cNvPr id="43" name="Text 27"/>
          <p:cNvSpPr txBox="1"/>
          <p:nvPr/>
        </p:nvSpPr>
        <p:spPr>
          <a:xfrm>
            <a:off x="1893824" y="7764177"/>
            <a:ext cx="718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90"/>
              </a:lnSpc>
              <a:buNone/>
            </a:pPr>
            <a:r>
              <a:rPr lang="en-US" sz="540" dirty="0">
                <a:solidFill>
                  <a:srgbClr val="7569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街角の少女</a:t>
            </a:r>
            <a:pPr algn="l" indent="0" marL="0">
              <a:lnSpc>
                <a:spcPts val="690"/>
              </a:lnSpc>
              <a:buNone/>
            </a:pPr>
            <a:endParaRPr lang="en-US" sz="540" dirty="0"/>
          </a:p>
          <a:p>
            <a:pPr algn="l" indent="0" marL="0">
              <a:lnSpc>
                <a:spcPts val="690"/>
              </a:lnSpc>
              <a:buNone/>
            </a:pPr>
            <a:r>
              <a:rPr lang="en-US" sz="540" dirty="0">
                <a:solidFill>
                  <a:srgbClr val="AB9F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淡いパステルの色</a:t>
            </a:r>
            <a:pPr algn="l" indent="0" marL="0">
              <a:lnSpc>
                <a:spcPts val="690"/>
              </a:lnSpc>
              <a:buNone/>
            </a:pPr>
            <a:endParaRPr lang="en-US" sz="540" dirty="0"/>
          </a:p>
          <a:p>
            <a:pPr algn="l" indent="0" marL="0">
              <a:lnSpc>
                <a:spcPts val="690"/>
              </a:lnSpc>
              <a:buNone/>
            </a:pPr>
            <a:r>
              <a:rPr lang="en-US" sz="540" dirty="0">
                <a:solidFill>
                  <a:srgbClr val="AB9F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線のない平塗り</a:t>
            </a:r>
            <a:endParaRPr lang="en-US" sz="540" dirty="0"/>
          </a:p>
        </p:txBody>
      </p:sp>
      <p:pic>
        <p:nvPicPr>
          <p:cNvPr id="44" name="Image 14" descr="/tmp/claude-1000/-home-tomoya-stable-diffusion-personalized-t2i/0770d818-38a0-4eb6-a96d-f7206b93f0e9/scratchpad/flyer/img/student-c0-l2-t2-m0.jp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657856" y="6838855"/>
            <a:ext cx="718312" cy="897890"/>
          </a:xfrm>
          <a:prstGeom prst="rect">
            <a:avLst/>
          </a:prstGeom>
        </p:spPr>
      </p:pic>
      <p:sp>
        <p:nvSpPr>
          <p:cNvPr id="45" name="Text 28"/>
          <p:cNvSpPr txBox="1"/>
          <p:nvPr/>
        </p:nvSpPr>
        <p:spPr>
          <a:xfrm>
            <a:off x="2657856" y="7764177"/>
            <a:ext cx="718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90"/>
              </a:lnSpc>
              <a:buNone/>
            </a:pPr>
            <a:r>
              <a:rPr lang="en-US" sz="540" dirty="0">
                <a:solidFill>
                  <a:srgbClr val="7569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図書館の青年</a:t>
            </a:r>
            <a:pPr algn="l" indent="0" marL="0">
              <a:lnSpc>
                <a:spcPts val="690"/>
              </a:lnSpc>
              <a:buNone/>
            </a:pPr>
            <a:endParaRPr lang="en-US" sz="540" dirty="0"/>
          </a:p>
          <a:p>
            <a:pPr algn="l" indent="0" marL="0">
              <a:lnSpc>
                <a:spcPts val="690"/>
              </a:lnSpc>
              <a:buNone/>
            </a:pPr>
            <a:r>
              <a:rPr lang="en-US" sz="540" dirty="0">
                <a:solidFill>
                  <a:srgbClr val="AB9F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暖かな琥珀色</a:t>
            </a:r>
            <a:pPr algn="l" indent="0" marL="0">
              <a:lnSpc>
                <a:spcPts val="690"/>
              </a:lnSpc>
              <a:buNone/>
            </a:pPr>
            <a:endParaRPr lang="en-US" sz="540" dirty="0"/>
          </a:p>
          <a:p>
            <a:pPr algn="l" indent="0" marL="0">
              <a:lnSpc>
                <a:spcPts val="690"/>
              </a:lnSpc>
              <a:buNone/>
            </a:pPr>
            <a:r>
              <a:rPr lang="en-US" sz="540" dirty="0">
                <a:solidFill>
                  <a:srgbClr val="AB9F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線のない平塗り</a:t>
            </a:r>
            <a:endParaRPr lang="en-US" sz="540" dirty="0"/>
          </a:p>
        </p:txBody>
      </p:sp>
      <p:pic>
        <p:nvPicPr>
          <p:cNvPr id="46" name="Image 15" descr="/tmp/claude-1000/-home-tomoya-stable-diffusion-personalized-t2i/0770d818-38a0-4eb6-a96d-f7206b93f0e9/scratchpad/flyer/img/student-c2-l0-t3-m0.jp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421888" y="6838855"/>
            <a:ext cx="718312" cy="897890"/>
          </a:xfrm>
          <a:prstGeom prst="rect">
            <a:avLst/>
          </a:prstGeom>
        </p:spPr>
      </p:pic>
      <p:sp>
        <p:nvSpPr>
          <p:cNvPr id="47" name="Text 29"/>
          <p:cNvSpPr txBox="1"/>
          <p:nvPr/>
        </p:nvSpPr>
        <p:spPr>
          <a:xfrm>
            <a:off x="3421888" y="7764177"/>
            <a:ext cx="718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90"/>
              </a:lnSpc>
              <a:buNone/>
            </a:pPr>
            <a:r>
              <a:rPr lang="en-US" sz="540" dirty="0">
                <a:solidFill>
                  <a:srgbClr val="7569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図書館の青年</a:t>
            </a:r>
            <a:pPr algn="l" indent="0" marL="0">
              <a:lnSpc>
                <a:spcPts val="690"/>
              </a:lnSpc>
              <a:buNone/>
            </a:pPr>
            <a:endParaRPr lang="en-US" sz="540" dirty="0"/>
          </a:p>
          <a:p>
            <a:pPr algn="l" indent="0" marL="0">
              <a:lnSpc>
                <a:spcPts val="690"/>
              </a:lnSpc>
              <a:buNone/>
            </a:pPr>
            <a:r>
              <a:rPr lang="en-US" sz="540" dirty="0">
                <a:solidFill>
                  <a:srgbClr val="AB9F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低彩度の落ち着いた色</a:t>
            </a:r>
            <a:pPr algn="l" indent="0" marL="0">
              <a:lnSpc>
                <a:spcPts val="690"/>
              </a:lnSpc>
              <a:buNone/>
            </a:pPr>
            <a:endParaRPr lang="en-US" sz="540" dirty="0"/>
          </a:p>
          <a:p>
            <a:pPr algn="l" indent="0" marL="0">
              <a:lnSpc>
                <a:spcPts val="690"/>
              </a:lnSpc>
              <a:buNone/>
            </a:pPr>
            <a:r>
              <a:rPr lang="en-US" sz="540" dirty="0">
                <a:solidFill>
                  <a:srgbClr val="AB9F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油彩の厚い筆致</a:t>
            </a:r>
            <a:endParaRPr lang="en-US" sz="540" dirty="0"/>
          </a:p>
        </p:txBody>
      </p:sp>
      <p:pic>
        <p:nvPicPr>
          <p:cNvPr id="48" name="Image 16" descr="/tmp/claude-1000/-home-tomoya-stable-diffusion-personalized-t2i/0770d818-38a0-4eb6-a96d-f7206b93f0e9/scratchpad/flyer/img/traveler-c1-l3-t1-m0.jp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185920" y="6838855"/>
            <a:ext cx="718312" cy="897890"/>
          </a:xfrm>
          <a:prstGeom prst="rect">
            <a:avLst/>
          </a:prstGeom>
        </p:spPr>
      </p:pic>
      <p:sp>
        <p:nvSpPr>
          <p:cNvPr id="49" name="Text 30"/>
          <p:cNvSpPr txBox="1"/>
          <p:nvPr/>
        </p:nvSpPr>
        <p:spPr>
          <a:xfrm>
            <a:off x="4185920" y="7764177"/>
            <a:ext cx="718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90"/>
              </a:lnSpc>
              <a:buNone/>
            </a:pPr>
            <a:r>
              <a:rPr lang="en-US" sz="540" dirty="0">
                <a:solidFill>
                  <a:srgbClr val="7569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草原の旅人</a:t>
            </a:r>
            <a:pPr algn="l" indent="0" marL="0">
              <a:lnSpc>
                <a:spcPts val="690"/>
              </a:lnSpc>
              <a:buNone/>
            </a:pPr>
            <a:endParaRPr lang="en-US" sz="540" dirty="0"/>
          </a:p>
          <a:p>
            <a:pPr algn="l" indent="0" marL="0">
              <a:lnSpc>
                <a:spcPts val="690"/>
              </a:lnSpc>
              <a:buNone/>
            </a:pPr>
            <a:r>
              <a:rPr lang="en-US" sz="540" dirty="0">
                <a:solidFill>
                  <a:srgbClr val="AB9F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青い背景の涼しい色</a:t>
            </a:r>
            <a:pPr algn="l" indent="0" marL="0">
              <a:lnSpc>
                <a:spcPts val="690"/>
              </a:lnSpc>
              <a:buNone/>
            </a:pPr>
            <a:endParaRPr lang="en-US" sz="540" dirty="0"/>
          </a:p>
          <a:p>
            <a:pPr algn="l" indent="0" marL="0">
              <a:lnSpc>
                <a:spcPts val="690"/>
              </a:lnSpc>
              <a:buNone/>
            </a:pPr>
            <a:r>
              <a:rPr lang="en-US" sz="540" dirty="0">
                <a:solidFill>
                  <a:srgbClr val="AB9F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セル塗りと線画</a:t>
            </a:r>
            <a:endParaRPr lang="en-US" sz="540" dirty="0"/>
          </a:p>
        </p:txBody>
      </p:sp>
      <p:pic>
        <p:nvPicPr>
          <p:cNvPr id="50" name="Image 17" descr="/tmp/claude-1000/-home-tomoya-stable-diffusion-personalized-t2i/0770d818-38a0-4eb6-a96d-f7206b93f0e9/scratchpad/flyer/img/traveler-c3-l1-t2-m2.jp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949952" y="6838855"/>
            <a:ext cx="718312" cy="897890"/>
          </a:xfrm>
          <a:prstGeom prst="rect">
            <a:avLst/>
          </a:prstGeom>
        </p:spPr>
      </p:pic>
      <p:sp>
        <p:nvSpPr>
          <p:cNvPr id="51" name="Text 31"/>
          <p:cNvSpPr txBox="1"/>
          <p:nvPr/>
        </p:nvSpPr>
        <p:spPr>
          <a:xfrm>
            <a:off x="4949952" y="7764177"/>
            <a:ext cx="718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90"/>
              </a:lnSpc>
              <a:buNone/>
            </a:pPr>
            <a:r>
              <a:rPr lang="en-US" sz="540" dirty="0">
                <a:solidFill>
                  <a:srgbClr val="7569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草原の旅人</a:t>
            </a:r>
            <a:pPr algn="l" indent="0" marL="0">
              <a:lnSpc>
                <a:spcPts val="690"/>
              </a:lnSpc>
              <a:buNone/>
            </a:pPr>
            <a:endParaRPr lang="en-US" sz="540" dirty="0"/>
          </a:p>
          <a:p>
            <a:pPr algn="l" indent="0" marL="0">
              <a:lnSpc>
                <a:spcPts val="690"/>
              </a:lnSpc>
              <a:buNone/>
            </a:pPr>
            <a:r>
              <a:rPr lang="en-US" sz="540" dirty="0">
                <a:solidFill>
                  <a:srgbClr val="AB9F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淡いパステルの色</a:t>
            </a:r>
            <a:pPr algn="l" indent="0" marL="0">
              <a:lnSpc>
                <a:spcPts val="690"/>
              </a:lnSpc>
              <a:buNone/>
            </a:pPr>
            <a:endParaRPr lang="en-US" sz="540" dirty="0"/>
          </a:p>
          <a:p>
            <a:pPr algn="l" indent="0" marL="0">
              <a:lnSpc>
                <a:spcPts val="690"/>
              </a:lnSpc>
              <a:buNone/>
            </a:pPr>
            <a:r>
              <a:rPr lang="en-US" sz="540" dirty="0">
                <a:solidFill>
                  <a:srgbClr val="AB9F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線のない平塗り</a:t>
            </a:r>
            <a:endParaRPr lang="en-US" sz="540" dirty="0"/>
          </a:p>
        </p:txBody>
      </p:sp>
      <p:pic>
        <p:nvPicPr>
          <p:cNvPr id="52" name="Image 18" descr="/tmp/claude-1000/-home-tomoya-stable-diffusion-personalized-t2i/0770d818-38a0-4eb6-a96d-f7206b93f0e9/scratchpad/flyer/img/barista-c0-l2-t2-m0.jp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713984" y="6838855"/>
            <a:ext cx="718312" cy="897890"/>
          </a:xfrm>
          <a:prstGeom prst="rect">
            <a:avLst/>
          </a:prstGeom>
        </p:spPr>
      </p:pic>
      <p:sp>
        <p:nvSpPr>
          <p:cNvPr id="53" name="Text 32"/>
          <p:cNvSpPr txBox="1"/>
          <p:nvPr/>
        </p:nvSpPr>
        <p:spPr>
          <a:xfrm>
            <a:off x="5713984" y="7764177"/>
            <a:ext cx="718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90"/>
              </a:lnSpc>
              <a:buNone/>
            </a:pPr>
            <a:r>
              <a:rPr lang="en-US" sz="540" dirty="0">
                <a:solidFill>
                  <a:srgbClr val="7569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カフェの店員</a:t>
            </a:r>
            <a:pPr algn="l" indent="0" marL="0">
              <a:lnSpc>
                <a:spcPts val="690"/>
              </a:lnSpc>
              <a:buNone/>
            </a:pPr>
            <a:endParaRPr lang="en-US" sz="540" dirty="0"/>
          </a:p>
          <a:p>
            <a:pPr algn="l" indent="0" marL="0">
              <a:lnSpc>
                <a:spcPts val="690"/>
              </a:lnSpc>
              <a:buNone/>
            </a:pPr>
            <a:r>
              <a:rPr lang="en-US" sz="540" dirty="0">
                <a:solidFill>
                  <a:srgbClr val="AB9F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暖かな琥珀色</a:t>
            </a:r>
            <a:pPr algn="l" indent="0" marL="0">
              <a:lnSpc>
                <a:spcPts val="690"/>
              </a:lnSpc>
              <a:buNone/>
            </a:pPr>
            <a:endParaRPr lang="en-US" sz="540" dirty="0"/>
          </a:p>
          <a:p>
            <a:pPr algn="l" indent="0" marL="0">
              <a:lnSpc>
                <a:spcPts val="690"/>
              </a:lnSpc>
              <a:buNone/>
            </a:pPr>
            <a:r>
              <a:rPr lang="en-US" sz="540" dirty="0">
                <a:solidFill>
                  <a:srgbClr val="AB9F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線のない平塗り</a:t>
            </a:r>
            <a:endParaRPr lang="en-US" sz="540" dirty="0"/>
          </a:p>
        </p:txBody>
      </p:sp>
      <p:pic>
        <p:nvPicPr>
          <p:cNvPr id="54" name="Image 19" descr="/tmp/claude-1000/-home-tomoya-stable-diffusion-personalized-t2i/0770d818-38a0-4eb6-a96d-f7206b93f0e9/scratchpad/flyer/img/barista-c2-l1-t0-m3.jp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78016" y="6838855"/>
            <a:ext cx="718312" cy="897890"/>
          </a:xfrm>
          <a:prstGeom prst="rect">
            <a:avLst/>
          </a:prstGeom>
        </p:spPr>
      </p:pic>
      <p:sp>
        <p:nvSpPr>
          <p:cNvPr id="55" name="Text 33"/>
          <p:cNvSpPr txBox="1"/>
          <p:nvPr/>
        </p:nvSpPr>
        <p:spPr>
          <a:xfrm>
            <a:off x="6478016" y="7764177"/>
            <a:ext cx="718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90"/>
              </a:lnSpc>
              <a:buNone/>
            </a:pPr>
            <a:r>
              <a:rPr lang="en-US" sz="540" dirty="0">
                <a:solidFill>
                  <a:srgbClr val="7569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カフェの店員</a:t>
            </a:r>
            <a:pPr algn="l" indent="0" marL="0">
              <a:lnSpc>
                <a:spcPts val="690"/>
              </a:lnSpc>
              <a:buNone/>
            </a:pPr>
            <a:endParaRPr lang="en-US" sz="540" dirty="0"/>
          </a:p>
          <a:p>
            <a:pPr algn="l" indent="0" marL="0">
              <a:lnSpc>
                <a:spcPts val="690"/>
              </a:lnSpc>
              <a:buNone/>
            </a:pPr>
            <a:r>
              <a:rPr lang="en-US" sz="540" dirty="0">
                <a:solidFill>
                  <a:srgbClr val="AB9F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低彩度の落ち着いた色</a:t>
            </a:r>
            <a:pPr algn="l" indent="0" marL="0">
              <a:lnSpc>
                <a:spcPts val="690"/>
              </a:lnSpc>
              <a:buNone/>
            </a:pPr>
            <a:endParaRPr lang="en-US" sz="540" dirty="0"/>
          </a:p>
          <a:p>
            <a:pPr algn="l" indent="0" marL="0">
              <a:lnSpc>
                <a:spcPts val="690"/>
              </a:lnSpc>
              <a:buNone/>
            </a:pPr>
            <a:r>
              <a:rPr lang="en-US" sz="540" dirty="0">
                <a:solidFill>
                  <a:srgbClr val="AB9F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鉛筆のラフスケッチ</a:t>
            </a:r>
            <a:endParaRPr lang="en-US" sz="540" dirty="0"/>
          </a:p>
        </p:txBody>
      </p:sp>
      <p:sp>
        <p:nvSpPr>
          <p:cNvPr id="56" name="Text 34"/>
          <p:cNvSpPr txBox="1"/>
          <p:nvPr/>
        </p:nvSpPr>
        <p:spPr>
          <a:xfrm>
            <a:off x="365760" y="8303673"/>
            <a:ext cx="163906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9A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色</a:t>
            </a:r>
            <a:pPr algn="l" indent="0" marL="0">
              <a:lnSpc>
                <a:spcPts val="1260"/>
              </a:lnSpc>
              <a:buNone/>
            </a:pPr>
            <a:r>
              <a:rPr lang="en-US" sz="660" dirty="0">
                <a:solidFill>
                  <a:srgbClr val="7569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4水準</a:t>
            </a:r>
            <a:endParaRPr lang="en-US" sz="900" dirty="0"/>
          </a:p>
        </p:txBody>
      </p:sp>
      <p:sp>
        <p:nvSpPr>
          <p:cNvPr id="57" name="Text 35"/>
          <p:cNvSpPr txBox="1"/>
          <p:nvPr/>
        </p:nvSpPr>
        <p:spPr>
          <a:xfrm>
            <a:off x="365760" y="8541417"/>
            <a:ext cx="163906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AB9F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暖かな琥珀色 · 青い背景の涼しい色 · 低彩度の落ち着いた色 · 淡いパステルの色</a:t>
            </a:r>
            <a:endParaRPr lang="en-US" sz="800" dirty="0"/>
          </a:p>
        </p:txBody>
      </p:sp>
      <p:sp>
        <p:nvSpPr>
          <p:cNvPr id="58" name="Text 36"/>
          <p:cNvSpPr txBox="1"/>
          <p:nvPr/>
        </p:nvSpPr>
        <p:spPr>
          <a:xfrm>
            <a:off x="2096262" y="8303673"/>
            <a:ext cx="163906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9A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光</a:t>
            </a:r>
            <a:pPr algn="l" indent="0" marL="0">
              <a:lnSpc>
                <a:spcPts val="1260"/>
              </a:lnSpc>
              <a:buNone/>
            </a:pPr>
            <a:r>
              <a:rPr lang="en-US" sz="660" dirty="0">
                <a:solidFill>
                  <a:srgbClr val="7569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4水準</a:t>
            </a:r>
            <a:endParaRPr lang="en-US" sz="900" dirty="0"/>
          </a:p>
        </p:txBody>
      </p:sp>
      <p:sp>
        <p:nvSpPr>
          <p:cNvPr id="59" name="Text 37"/>
          <p:cNvSpPr txBox="1"/>
          <p:nvPr/>
        </p:nvSpPr>
        <p:spPr>
          <a:xfrm>
            <a:off x="2096262" y="8541417"/>
            <a:ext cx="163906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AB9F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曇りの日のやわらかな光 · 夜のランプの灯り · 逆光とまぶしい輪郭の光 · 強い日差しとくっきりした影</a:t>
            </a:r>
            <a:endParaRPr lang="en-US" sz="800" dirty="0"/>
          </a:p>
        </p:txBody>
      </p:sp>
      <p:sp>
        <p:nvSpPr>
          <p:cNvPr id="60" name="Text 38"/>
          <p:cNvSpPr txBox="1"/>
          <p:nvPr/>
        </p:nvSpPr>
        <p:spPr>
          <a:xfrm>
            <a:off x="3826764" y="8303673"/>
            <a:ext cx="163906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9A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描画</a:t>
            </a:r>
            <a:pPr algn="l" indent="0" marL="0">
              <a:lnSpc>
                <a:spcPts val="1260"/>
              </a:lnSpc>
              <a:buNone/>
            </a:pPr>
            <a:r>
              <a:rPr lang="en-US" sz="660" dirty="0">
                <a:solidFill>
                  <a:srgbClr val="7569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4水準</a:t>
            </a:r>
            <a:endParaRPr lang="en-US" sz="900" dirty="0"/>
          </a:p>
        </p:txBody>
      </p:sp>
      <p:sp>
        <p:nvSpPr>
          <p:cNvPr id="61" name="Text 39"/>
          <p:cNvSpPr txBox="1"/>
          <p:nvPr/>
        </p:nvSpPr>
        <p:spPr>
          <a:xfrm>
            <a:off x="3826764" y="8541417"/>
            <a:ext cx="163906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AB9F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鉛筆のラフスケッチ · セル塗りと線画 · 線のない平塗り · 油彩の厚い筆致</a:t>
            </a:r>
            <a:endParaRPr lang="en-US" sz="800" dirty="0"/>
          </a:p>
        </p:txBody>
      </p:sp>
      <p:sp>
        <p:nvSpPr>
          <p:cNvPr id="62" name="Text 40"/>
          <p:cNvSpPr txBox="1"/>
          <p:nvPr/>
        </p:nvSpPr>
        <p:spPr>
          <a:xfrm>
            <a:off x="5557266" y="8303673"/>
            <a:ext cx="163906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9A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雰囲気</a:t>
            </a:r>
            <a:pPr algn="l" indent="0" marL="0">
              <a:lnSpc>
                <a:spcPts val="1260"/>
              </a:lnSpc>
              <a:buNone/>
            </a:pPr>
            <a:r>
              <a:rPr lang="en-US" sz="660" dirty="0">
                <a:solidFill>
                  <a:srgbClr val="7569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4水準</a:t>
            </a:r>
            <a:endParaRPr lang="en-US" sz="900" dirty="0"/>
          </a:p>
        </p:txBody>
      </p:sp>
      <p:sp>
        <p:nvSpPr>
          <p:cNvPr id="63" name="Text 41"/>
          <p:cNvSpPr txBox="1"/>
          <p:nvPr/>
        </p:nvSpPr>
        <p:spPr>
          <a:xfrm>
            <a:off x="5557266" y="8541417"/>
            <a:ext cx="163906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AB9F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静かな雰囲気 · 明るく活発な表情 · 真剣な雰囲気 · 夢見るような半眼</a:t>
            </a:r>
            <a:endParaRPr lang="en-US" sz="800" dirty="0"/>
          </a:p>
        </p:txBody>
      </p:sp>
      <p:sp>
        <p:nvSpPr>
          <p:cNvPr id="64" name="Text 42"/>
          <p:cNvSpPr txBox="1"/>
          <p:nvPr/>
        </p:nvSpPr>
        <p:spPr>
          <a:xfrm>
            <a:off x="365760" y="9126633"/>
            <a:ext cx="6830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740" dirty="0">
                <a:solidFill>
                  <a:srgbClr val="7569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各カードは4側面ごとに短い英語の句を持ち、実画像を見て確認できたカードだけを展示に出します。被写体はお題と重ねていないので「被写体が好き」と「表現が好き」を切り分けられます。</a:t>
            </a:r>
            <a:endParaRPr lang="en-US" sz="740" dirty="0"/>
          </a:p>
        </p:txBody>
      </p:sp>
      <p:pic>
        <p:nvPicPr>
          <p:cNvPr id="65" name="Image 20" descr="/tmp/claude-1000/-home-tomoya-stable-diffusion-personalized-t2i/0770d818-38a0-4eb6-a96d-f7206b93f0e9/scratchpad/flyer/img/qr-github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886200" y="9866376"/>
            <a:ext cx="457200" cy="457200"/>
          </a:xfrm>
          <a:prstGeom prst="rect">
            <a:avLst/>
          </a:prstGeom>
        </p:spPr>
      </p:pic>
      <p:sp>
        <p:nvSpPr>
          <p:cNvPr id="66" name="Text 43"/>
          <p:cNvSpPr txBox="1"/>
          <p:nvPr/>
        </p:nvSpPr>
        <p:spPr>
          <a:xfrm>
            <a:off x="4398264" y="986637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650" b="1" dirty="0">
                <a:solidFill>
                  <a:srgbClr val="F8F1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GitHub</a:t>
            </a:r>
            <a:pPr algn="l" indent="0" marL="0">
              <a:lnSpc>
                <a:spcPts val="810"/>
              </a:lnSpc>
              <a:buNone/>
            </a:pPr>
            <a:endParaRPr lang="en-US" sz="650" dirty="0"/>
          </a:p>
          <a:p>
            <a:pPr algn="l" indent="0" marL="0">
              <a:lnSpc>
                <a:spcPts val="810"/>
              </a:lnSpc>
              <a:buNone/>
            </a:pPr>
            <a:r>
              <a:rPr lang="en-US" sz="560" dirty="0">
                <a:solidFill>
                  <a:srgbClr val="AB9F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tmp-friends/</a:t>
            </a:r>
            <a:pPr algn="l" indent="0" marL="0">
              <a:lnSpc>
                <a:spcPts val="810"/>
              </a:lnSpc>
              <a:buNone/>
            </a:pPr>
            <a:endParaRPr lang="en-US" sz="650" dirty="0"/>
          </a:p>
          <a:p>
            <a:pPr algn="l" indent="0" marL="0">
              <a:lnSpc>
                <a:spcPts val="810"/>
              </a:lnSpc>
              <a:buNone/>
            </a:pPr>
            <a:r>
              <a:rPr lang="en-US" sz="560" dirty="0">
                <a:solidFill>
                  <a:srgbClr val="AB9F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personalized-t2i</a:t>
            </a:r>
            <a:endParaRPr lang="en-US" sz="650" dirty="0"/>
          </a:p>
        </p:txBody>
      </p:sp>
      <p:pic>
        <p:nvPicPr>
          <p:cNvPr id="67" name="Image 21" descr="/tmp/claude-1000/-home-tomoya-stable-diffusion-personalized-t2i/0770d818-38a0-4eb6-a96d-f7206b93f0e9/scratchpad/flyer/img/qr-x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907024" y="9866376"/>
            <a:ext cx="457200" cy="457200"/>
          </a:xfrm>
          <a:prstGeom prst="rect">
            <a:avLst/>
          </a:prstGeom>
        </p:spPr>
      </p:pic>
      <p:sp>
        <p:nvSpPr>
          <p:cNvPr id="68" name="Text 44"/>
          <p:cNvSpPr txBox="1"/>
          <p:nvPr/>
        </p:nvSpPr>
        <p:spPr>
          <a:xfrm>
            <a:off x="6419088" y="9866376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650" b="1" dirty="0">
                <a:solidFill>
                  <a:srgbClr val="F8F1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X</a:t>
            </a:r>
            <a:pPr algn="l" indent="0" marL="0">
              <a:lnSpc>
                <a:spcPts val="810"/>
              </a:lnSpc>
              <a:buNone/>
            </a:pPr>
            <a:endParaRPr lang="en-US" sz="650" dirty="0"/>
          </a:p>
          <a:p>
            <a:pPr algn="l" indent="0" marL="0">
              <a:lnSpc>
                <a:spcPts val="810"/>
              </a:lnSpc>
              <a:buNone/>
            </a:pPr>
            <a:r>
              <a:rPr lang="en-US" sz="560" dirty="0">
                <a:solidFill>
                  <a:srgbClr val="AB9F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@tmp_friends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0D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329184"/>
            <a:ext cx="6830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F8F1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パーソナライズ画像生成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859536"/>
            <a:ext cx="6830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0"/>
              </a:lnSpc>
              <a:buNone/>
            </a:pPr>
            <a:r>
              <a:rPr lang="en-US" sz="860" dirty="0">
                <a:solidFill>
                  <a:srgbClr val="AB9F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6つのお題から1つ選び、好きな絵を数枚選ぶと、パーソナライズなし・ありの4枚ずつを並べて見比べられます。好みはカードに付けた説明文（Reference Prompt）になり、テキストエンコーダーの中でお題の文（Target Prompt）に混ざります。追加学習はしません。</a:t>
            </a:r>
            <a:endParaRPr lang="en-US" sz="86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1389888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FF9A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94944" y="1389888"/>
            <a:ext cx="6501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8F1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全体の流れ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65760" y="1700784"/>
            <a:ext cx="1278331" cy="859536"/>
          </a:xfrm>
          <a:prstGeom prst="roundRect">
            <a:avLst>
              <a:gd name="adj" fmla="val 10638"/>
            </a:avLst>
          </a:prstGeom>
          <a:solidFill>
            <a:srgbClr val="191514"/>
          </a:solidFill>
          <a:ln w="9525">
            <a:solidFill>
              <a:srgbClr val="3028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7830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0"/>
              </a:lnSpc>
              <a:buNone/>
            </a:pPr>
            <a:r>
              <a:rPr lang="en-US" sz="840" b="1" dirty="0">
                <a:solidFill>
                  <a:srgbClr val="FF9A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84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956816"/>
            <a:ext cx="109545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8F1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好きな画像を選ぶ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249424"/>
            <a:ext cx="10954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80" dirty="0">
                <a:solidFill>
                  <a:srgbClr val="AB9F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候補の中から3〜10枚。</a:t>
            </a:r>
            <a:endParaRPr lang="en-US" sz="780" dirty="0"/>
          </a:p>
        </p:txBody>
      </p:sp>
      <p:sp>
        <p:nvSpPr>
          <p:cNvPr id="10" name="Text 8"/>
          <p:cNvSpPr txBox="1"/>
          <p:nvPr/>
        </p:nvSpPr>
        <p:spPr>
          <a:xfrm>
            <a:off x="1625803" y="2066544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6F9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›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753819" y="1700784"/>
            <a:ext cx="1278331" cy="859536"/>
          </a:xfrm>
          <a:prstGeom prst="roundRect">
            <a:avLst>
              <a:gd name="adj" fmla="val 10638"/>
            </a:avLst>
          </a:prstGeom>
          <a:solidFill>
            <a:srgbClr val="191514"/>
          </a:solidFill>
          <a:ln w="9525">
            <a:solidFill>
              <a:srgbClr val="30282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845259" y="17830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0"/>
              </a:lnSpc>
              <a:buNone/>
            </a:pPr>
            <a:r>
              <a:rPr lang="en-US" sz="840" b="1" dirty="0">
                <a:solidFill>
                  <a:srgbClr val="FF9A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840" dirty="0"/>
          </a:p>
        </p:txBody>
      </p:sp>
      <p:sp>
        <p:nvSpPr>
          <p:cNvPr id="13" name="Text 11"/>
          <p:cNvSpPr txBox="1"/>
          <p:nvPr/>
        </p:nvSpPr>
        <p:spPr>
          <a:xfrm>
            <a:off x="1845259" y="1956816"/>
            <a:ext cx="109545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8F1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好きな部分を選ぶ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845259" y="2249424"/>
            <a:ext cx="10954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80" dirty="0">
                <a:solidFill>
                  <a:srgbClr val="AB9F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色・光・描画・雰囲気のどこが好きかを選ぶ。</a:t>
            </a:r>
            <a:endParaRPr lang="en-US" sz="780" dirty="0"/>
          </a:p>
        </p:txBody>
      </p:sp>
      <p:sp>
        <p:nvSpPr>
          <p:cNvPr id="15" name="Text 13"/>
          <p:cNvSpPr txBox="1"/>
          <p:nvPr/>
        </p:nvSpPr>
        <p:spPr>
          <a:xfrm>
            <a:off x="3013862" y="2066544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6F9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›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141878" y="1700784"/>
            <a:ext cx="1278331" cy="859536"/>
          </a:xfrm>
          <a:prstGeom prst="roundRect">
            <a:avLst>
              <a:gd name="adj" fmla="val 10638"/>
            </a:avLst>
          </a:prstGeom>
          <a:solidFill>
            <a:srgbClr val="191514"/>
          </a:solidFill>
          <a:ln w="9525">
            <a:solidFill>
              <a:srgbClr val="30282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233318" y="17830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0"/>
              </a:lnSpc>
              <a:buNone/>
            </a:pPr>
            <a:r>
              <a:rPr lang="en-US" sz="840" b="1" dirty="0">
                <a:solidFill>
                  <a:srgbClr val="FF9A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840" dirty="0"/>
          </a:p>
        </p:txBody>
      </p:sp>
      <p:sp>
        <p:nvSpPr>
          <p:cNvPr id="18" name="Text 16"/>
          <p:cNvSpPr txBox="1"/>
          <p:nvPr/>
        </p:nvSpPr>
        <p:spPr>
          <a:xfrm>
            <a:off x="3233318" y="1956816"/>
            <a:ext cx="109545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8F1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Reference Prompt を作る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3233318" y="2249424"/>
            <a:ext cx="10954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80" dirty="0">
                <a:solidFill>
                  <a:srgbClr val="AB9F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選んだ項目の英語の句を重み付きで集める。</a:t>
            </a:r>
            <a:endParaRPr lang="en-US" sz="780" dirty="0"/>
          </a:p>
        </p:txBody>
      </p:sp>
      <p:sp>
        <p:nvSpPr>
          <p:cNvPr id="20" name="Text 18"/>
          <p:cNvSpPr txBox="1"/>
          <p:nvPr/>
        </p:nvSpPr>
        <p:spPr>
          <a:xfrm>
            <a:off x="4401922" y="2066544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6F9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›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29938" y="1700784"/>
            <a:ext cx="1278331" cy="859536"/>
          </a:xfrm>
          <a:prstGeom prst="roundRect">
            <a:avLst>
              <a:gd name="adj" fmla="val 10638"/>
            </a:avLst>
          </a:prstGeom>
          <a:solidFill>
            <a:srgbClr val="191514"/>
          </a:solidFill>
          <a:ln w="9525">
            <a:solidFill>
              <a:srgbClr val="30282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621378" y="17830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0"/>
              </a:lnSpc>
              <a:buNone/>
            </a:pPr>
            <a:r>
              <a:rPr lang="en-US" sz="840" b="1" dirty="0">
                <a:solidFill>
                  <a:srgbClr val="FF9A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</a:t>
            </a:r>
            <a:endParaRPr lang="en-US" sz="840" dirty="0"/>
          </a:p>
        </p:txBody>
      </p:sp>
      <p:sp>
        <p:nvSpPr>
          <p:cNvPr id="23" name="Text 21"/>
          <p:cNvSpPr txBox="1"/>
          <p:nvPr/>
        </p:nvSpPr>
        <p:spPr>
          <a:xfrm>
            <a:off x="4621378" y="1956816"/>
            <a:ext cx="109545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8F1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FAN でエンコード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4621378" y="2249424"/>
            <a:ext cx="10954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80" dirty="0">
                <a:solidFill>
                  <a:srgbClr val="AB9F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お題の文と一緒に入れ、好みを混ぜる。</a:t>
            </a:r>
            <a:endParaRPr lang="en-US" sz="780" dirty="0"/>
          </a:p>
        </p:txBody>
      </p:sp>
      <p:sp>
        <p:nvSpPr>
          <p:cNvPr id="25" name="Text 23"/>
          <p:cNvSpPr txBox="1"/>
          <p:nvPr/>
        </p:nvSpPr>
        <p:spPr>
          <a:xfrm>
            <a:off x="5789981" y="2066544"/>
            <a:ext cx="146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6F9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›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17997" y="1700784"/>
            <a:ext cx="1278331" cy="859536"/>
          </a:xfrm>
          <a:prstGeom prst="roundRect">
            <a:avLst>
              <a:gd name="adj" fmla="val 10638"/>
            </a:avLst>
          </a:prstGeom>
          <a:solidFill>
            <a:srgbClr val="191514"/>
          </a:solidFill>
          <a:ln w="9525">
            <a:solidFill>
              <a:srgbClr val="30282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009437" y="17830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0"/>
              </a:lnSpc>
              <a:buNone/>
            </a:pPr>
            <a:r>
              <a:rPr lang="en-US" sz="840" b="1" dirty="0">
                <a:solidFill>
                  <a:srgbClr val="FF9A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</a:t>
            </a:r>
            <a:endParaRPr lang="en-US" sz="840" dirty="0"/>
          </a:p>
        </p:txBody>
      </p:sp>
      <p:sp>
        <p:nvSpPr>
          <p:cNvPr id="28" name="Text 26"/>
          <p:cNvSpPr txBox="1"/>
          <p:nvPr/>
        </p:nvSpPr>
        <p:spPr>
          <a:xfrm>
            <a:off x="6009437" y="1956816"/>
            <a:ext cx="109545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0"/>
              </a:lnSpc>
              <a:buNone/>
            </a:pPr>
            <a:r>
              <a:rPr lang="en-US" sz="900" b="1" dirty="0">
                <a:solidFill>
                  <a:srgbClr val="F8F1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SDXL で生成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6009437" y="2249424"/>
            <a:ext cx="10954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80" dirty="0">
                <a:solidFill>
                  <a:srgbClr val="AB9F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4つの seed で描く。</a:t>
            </a:r>
            <a:endParaRPr lang="en-US" sz="780" dirty="0"/>
          </a:p>
        </p:txBody>
      </p:sp>
      <p:sp>
        <p:nvSpPr>
          <p:cNvPr id="30" name="Text 28"/>
          <p:cNvSpPr txBox="1"/>
          <p:nvPr/>
        </p:nvSpPr>
        <p:spPr>
          <a:xfrm>
            <a:off x="365760" y="2706624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FF9A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94944" y="2706624"/>
            <a:ext cx="6501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8F1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FAN の仕組み</a:t>
            </a:r>
            <a:pPr algn="l" indent="0" marL="0">
              <a:lnSpc>
                <a:spcPts val="1890"/>
              </a:lnSpc>
              <a:buNone/>
            </a:pPr>
            <a:r>
              <a:rPr lang="en-US" sz="760" dirty="0">
                <a:solidFill>
                  <a:srgbClr val="7569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H. Kim, S. Ahn, Y.-D. Seo. Foundation Encoders Are All You Need for Preference-Aware Personalization. CVPR 2026.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365760" y="3035808"/>
            <a:ext cx="1920240" cy="1683274"/>
          </a:xfrm>
          <a:prstGeom prst="roundRect">
            <a:avLst>
              <a:gd name="adj" fmla="val 32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3" name="Image 0" descr="/tmp/claude-1000/-home-tomoya-stable-diffusion-personalized-t2i/0770d818-38a0-4eb6-a96d-f7206b93f0e9/scratchpad/flyer/img/fan-metho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081528"/>
            <a:ext cx="1828800" cy="1591834"/>
          </a:xfrm>
          <a:prstGeom prst="rect">
            <a:avLst/>
          </a:prstGeom>
        </p:spPr>
      </p:pic>
      <p:sp>
        <p:nvSpPr>
          <p:cNvPr id="34" name="Text 31"/>
          <p:cNvSpPr txBox="1"/>
          <p:nvPr/>
        </p:nvSpPr>
        <p:spPr>
          <a:xfrm>
            <a:off x="2468880" y="3035808"/>
            <a:ext cx="4727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60" b="1" dirty="0">
                <a:solidFill>
                  <a:srgbClr val="F8F1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FAN</a:t>
            </a:r>
            <a:pPr algn="l" indent="0" marL="0">
              <a:lnSpc>
                <a:spcPts val="1100"/>
              </a:lnSpc>
              <a:buNone/>
            </a:pPr>
            <a:r>
              <a:rPr lang="en-US" sz="760" dirty="0">
                <a:solidFill>
                  <a:srgbClr val="AB9F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は、画像生成モデルに好みを伝えるために、</a:t>
            </a:r>
            <a:pPr algn="l" indent="0" marL="0">
              <a:lnSpc>
                <a:spcPts val="1100"/>
              </a:lnSpc>
              <a:buNone/>
            </a:pPr>
            <a:r>
              <a:rPr lang="en-US" sz="760" b="1" dirty="0">
                <a:solidFill>
                  <a:srgbClr val="F8F1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テキストエンコーダーの self-attention だけを組み替える</a:t>
            </a:r>
            <a:pPr algn="l" indent="0" marL="0">
              <a:lnSpc>
                <a:spcPts val="1100"/>
              </a:lnSpc>
              <a:buNone/>
            </a:pPr>
            <a:r>
              <a:rPr lang="en-US" sz="760" dirty="0">
                <a:solidFill>
                  <a:srgbClr val="AB9F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手法です。追加の学習も、アダプターのような追加の構造も使いません。展示では SDXL の2つのテキストエンコーダー（CLIP-L と OpenCLIP bigG）の両方に適用しています。</a:t>
            </a:r>
            <a:endParaRPr lang="en-US" sz="760" dirty="0"/>
          </a:p>
        </p:txBody>
      </p:sp>
      <p:sp>
        <p:nvSpPr>
          <p:cNvPr id="35" name="Text 32"/>
          <p:cNvSpPr txBox="1"/>
          <p:nvPr/>
        </p:nvSpPr>
        <p:spPr>
          <a:xfrm>
            <a:off x="2468880" y="3547872"/>
            <a:ext cx="4727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40" b="1" dirty="0">
                <a:solidFill>
                  <a:srgbClr val="F8F1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1回のエンコードで起きること</a:t>
            </a:r>
            <a:pPr algn="l" indent="0" marL="0">
              <a:lnSpc>
                <a:spcPts val="1090"/>
              </a:lnSpc>
              <a:buNone/>
            </a:pPr>
            <a:endParaRPr lang="en-US" sz="840" dirty="0"/>
          </a:p>
          <a:p>
            <a:pPr algn="l" indent="0" marL="0">
              <a:lnSpc>
                <a:spcPts val="1090"/>
              </a:lnSpc>
              <a:buNone/>
            </a:pPr>
            <a:r>
              <a:rPr lang="en-US" sz="700" dirty="0">
                <a:solidFill>
                  <a:srgbClr val="7569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Target Prompt と Reference Prompt を 77 トークンにそろえ、1つのバッチで入れる</a:t>
            </a:r>
            <a:endParaRPr lang="en-US" sz="840" dirty="0"/>
          </a:p>
        </p:txBody>
      </p:sp>
      <p:sp>
        <p:nvSpPr>
          <p:cNvPr id="36" name="Shape 33"/>
          <p:cNvSpPr/>
          <p:nvPr/>
        </p:nvSpPr>
        <p:spPr>
          <a:xfrm>
            <a:off x="2468880" y="3913632"/>
            <a:ext cx="4727448" cy="420624"/>
          </a:xfrm>
          <a:prstGeom prst="roundRect">
            <a:avLst>
              <a:gd name="adj" fmla="val 10870"/>
            </a:avLst>
          </a:prstGeom>
          <a:solidFill>
            <a:srgbClr val="221C1A"/>
          </a:solidFill>
          <a:ln w="12700">
            <a:solidFill>
              <a:srgbClr val="221C1A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2542032" y="3913632"/>
            <a:ext cx="1325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760" b="1" dirty="0">
                <a:solidFill>
                  <a:srgbClr val="FF9A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Target Prompt</a:t>
            </a:r>
            <a:endParaRPr lang="en-US" sz="760" dirty="0"/>
          </a:p>
        </p:txBody>
      </p:sp>
      <p:sp>
        <p:nvSpPr>
          <p:cNvPr id="38" name="Text 35"/>
          <p:cNvSpPr txBox="1"/>
          <p:nvPr/>
        </p:nvSpPr>
        <p:spPr>
          <a:xfrm>
            <a:off x="3840480" y="3913632"/>
            <a:ext cx="32826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00" dirty="0">
                <a:solidFill>
                  <a:srgbClr val="AB9F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 で Reference Prompt を混ぜる本体。Query は自身、Key と Value は同じ層の「Target Prompt の複製 ‖ 全 Reference Prompt」から作る。最後にこの出力だけを生成モデルへ渡す。</a:t>
            </a:r>
            <a:endParaRPr lang="en-US" sz="700" dirty="0"/>
          </a:p>
        </p:txBody>
      </p:sp>
      <p:sp>
        <p:nvSpPr>
          <p:cNvPr id="39" name="Shape 36"/>
          <p:cNvSpPr/>
          <p:nvPr/>
        </p:nvSpPr>
        <p:spPr>
          <a:xfrm>
            <a:off x="2468880" y="4370832"/>
            <a:ext cx="4727448" cy="310896"/>
          </a:xfrm>
          <a:prstGeom prst="roundRect">
            <a:avLst>
              <a:gd name="adj" fmla="val 14706"/>
            </a:avLst>
          </a:prstGeom>
          <a:solidFill>
            <a:srgbClr val="221C1A"/>
          </a:solidFill>
          <a:ln w="12700">
            <a:solidFill>
              <a:srgbClr val="221C1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2542032" y="4370832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760" b="1" dirty="0">
                <a:solidFill>
                  <a:srgbClr val="FF9A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Target Prompt の複製</a:t>
            </a:r>
            <a:endParaRPr lang="en-US" sz="760" dirty="0"/>
          </a:p>
        </p:txBody>
      </p:sp>
      <p:sp>
        <p:nvSpPr>
          <p:cNvPr id="41" name="Text 38"/>
          <p:cNvSpPr txBox="1"/>
          <p:nvPr/>
        </p:nvSpPr>
        <p:spPr>
          <a:xfrm>
            <a:off x="3840480" y="4370832"/>
            <a:ext cx="3282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00" dirty="0">
                <a:solidFill>
                  <a:srgbClr val="AB9F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通常の self-attention のまま進む。α = 0 なら Target Prompt はこれだけを見るので、通常のエンコードと同じ結果になる。</a:t>
            </a:r>
            <a:endParaRPr lang="en-US" sz="700" dirty="0"/>
          </a:p>
        </p:txBody>
      </p:sp>
      <p:sp>
        <p:nvSpPr>
          <p:cNvPr id="42" name="Shape 39"/>
          <p:cNvSpPr/>
          <p:nvPr/>
        </p:nvSpPr>
        <p:spPr>
          <a:xfrm>
            <a:off x="2468880" y="4718304"/>
            <a:ext cx="4727448" cy="219456"/>
          </a:xfrm>
          <a:prstGeom prst="roundRect">
            <a:avLst>
              <a:gd name="adj" fmla="val 20833"/>
            </a:avLst>
          </a:prstGeom>
          <a:solidFill>
            <a:srgbClr val="221C1A"/>
          </a:solidFill>
          <a:ln w="12700">
            <a:solidFill>
              <a:srgbClr val="221C1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2542032" y="471830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760" b="1" dirty="0">
                <a:solidFill>
                  <a:srgbClr val="FF9A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Reference Prompt 1 … R</a:t>
            </a:r>
            <a:endParaRPr lang="en-US" sz="760" dirty="0"/>
          </a:p>
        </p:txBody>
      </p:sp>
      <p:sp>
        <p:nvSpPr>
          <p:cNvPr id="44" name="Text 41"/>
          <p:cNvSpPr txBox="1"/>
          <p:nvPr/>
        </p:nvSpPr>
        <p:spPr>
          <a:xfrm>
            <a:off x="3840480" y="4718304"/>
            <a:ext cx="3282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50"/>
              </a:lnSpc>
              <a:buNone/>
            </a:pPr>
            <a:r>
              <a:rPr lang="en-US" sz="700" dirty="0">
                <a:solidFill>
                  <a:srgbClr val="AB9F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それぞれ通常の self-attention のまま進む。互いに混ざることはない。</a:t>
            </a:r>
            <a:endParaRPr lang="en-US" sz="700" dirty="0"/>
          </a:p>
        </p:txBody>
      </p:sp>
      <p:sp>
        <p:nvSpPr>
          <p:cNvPr id="45" name="Shape 42"/>
          <p:cNvSpPr/>
          <p:nvPr/>
        </p:nvSpPr>
        <p:spPr>
          <a:xfrm>
            <a:off x="2468880" y="5010912"/>
            <a:ext cx="4727448" cy="566928"/>
          </a:xfrm>
          <a:prstGeom prst="roundRect">
            <a:avLst>
              <a:gd name="adj" fmla="val 12903"/>
            </a:avLst>
          </a:prstGeom>
          <a:solidFill>
            <a:srgbClr val="191514"/>
          </a:solidFill>
          <a:ln w="9525">
            <a:solidFill>
              <a:srgbClr val="30282A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2542032" y="5047488"/>
            <a:ext cx="4581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30"/>
              </a:lnSpc>
              <a:buNone/>
            </a:pPr>
            <a:r>
              <a:rPr lang="en-US" sz="880" b="1" dirty="0">
                <a:solidFill>
                  <a:srgbClr val="F8F1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 = (1 − α) · Attn(Q, T) V</a:t>
            </a:r>
            <a:pPr algn="ctr" indent="0" marL="0">
              <a:lnSpc>
                <a:spcPts val="1230"/>
              </a:lnSpc>
              <a:buNone/>
            </a:pPr>
            <a:r>
              <a:rPr lang="en-US" sz="880" b="1" baseline="-40000" dirty="0">
                <a:solidFill>
                  <a:srgbClr val="F8F1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</a:t>
            </a:r>
            <a:pPr algn="ctr" indent="0" marL="0">
              <a:lnSpc>
                <a:spcPts val="1230"/>
              </a:lnSpc>
              <a:buNone/>
            </a:pPr>
            <a:r>
              <a:rPr lang="en-US" sz="880" b="1" dirty="0">
                <a:solidFill>
                  <a:srgbClr val="F8F1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+  α Σ</a:t>
            </a:r>
            <a:pPr algn="ctr" indent="0" marL="0">
              <a:lnSpc>
                <a:spcPts val="1230"/>
              </a:lnSpc>
              <a:buNone/>
            </a:pPr>
            <a:r>
              <a:rPr lang="en-US" sz="880" b="1" baseline="-40000" dirty="0">
                <a:solidFill>
                  <a:srgbClr val="F8F1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</a:t>
            </a:r>
            <a:pPr algn="ctr" indent="0" marL="0">
              <a:lnSpc>
                <a:spcPts val="1230"/>
              </a:lnSpc>
              <a:buNone/>
            </a:pPr>
            <a:r>
              <a:rPr lang="en-US" sz="880" b="1" dirty="0">
                <a:solidFill>
                  <a:srgbClr val="F8F1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(w</a:t>
            </a:r>
            <a:pPr algn="ctr" indent="0" marL="0">
              <a:lnSpc>
                <a:spcPts val="1230"/>
              </a:lnSpc>
              <a:buNone/>
            </a:pPr>
            <a:r>
              <a:rPr lang="en-US" sz="880" b="1" baseline="-40000" dirty="0">
                <a:solidFill>
                  <a:srgbClr val="F8F1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</a:t>
            </a:r>
            <a:pPr algn="ctr" indent="0" marL="0">
              <a:lnSpc>
                <a:spcPts val="1230"/>
              </a:lnSpc>
              <a:buNone/>
            </a:pPr>
            <a:r>
              <a:rPr lang="en-US" sz="880" b="1" dirty="0">
                <a:solidFill>
                  <a:srgbClr val="F8F1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/ Σw) · Attn(Q, R</a:t>
            </a:r>
            <a:pPr algn="ctr" indent="0" marL="0">
              <a:lnSpc>
                <a:spcPts val="1230"/>
              </a:lnSpc>
              <a:buNone/>
            </a:pPr>
            <a:r>
              <a:rPr lang="en-US" sz="880" b="1" baseline="-40000" dirty="0">
                <a:solidFill>
                  <a:srgbClr val="F8F1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</a:t>
            </a:r>
            <a:pPr algn="ctr" indent="0" marL="0">
              <a:lnSpc>
                <a:spcPts val="1230"/>
              </a:lnSpc>
              <a:buNone/>
            </a:pPr>
            <a:r>
              <a:rPr lang="en-US" sz="880" b="1" dirty="0">
                <a:solidFill>
                  <a:srgbClr val="F8F1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) V</a:t>
            </a:r>
            <a:pPr algn="ctr" indent="0" marL="0">
              <a:lnSpc>
                <a:spcPts val="1230"/>
              </a:lnSpc>
              <a:buNone/>
            </a:pPr>
            <a:r>
              <a:rPr lang="en-US" sz="880" b="1" baseline="-40000" dirty="0">
                <a:solidFill>
                  <a:srgbClr val="F8F1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</a:t>
            </a:r>
            <a:pPr algn="ctr" indent="0" marL="0">
              <a:lnSpc>
                <a:spcPts val="1230"/>
              </a:lnSpc>
              <a:buNone/>
            </a:pPr>
            <a:r>
              <a:rPr lang="en-US" sz="460" b="1" baseline="-40000" dirty="0">
                <a:solidFill>
                  <a:srgbClr val="F8F1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</a:t>
            </a:r>
            <a:endParaRPr lang="en-US" sz="880" dirty="0"/>
          </a:p>
        </p:txBody>
      </p:sp>
      <p:sp>
        <p:nvSpPr>
          <p:cNvPr id="47" name="Text 44"/>
          <p:cNvSpPr txBox="1"/>
          <p:nvPr/>
        </p:nvSpPr>
        <p:spPr>
          <a:xfrm>
            <a:off x="2560320" y="5266944"/>
            <a:ext cx="4544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20"/>
              </a:lnSpc>
              <a:buNone/>
            </a:pPr>
            <a:r>
              <a:rPr lang="en-US" sz="680" dirty="0">
                <a:solidFill>
                  <a:srgbClr val="7569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Attn(Q, K) = softmax(QK</a:t>
            </a:r>
            <a:pPr algn="ctr" indent="0" marL="0">
              <a:lnSpc>
                <a:spcPts val="920"/>
              </a:lnSpc>
              <a:buNone/>
            </a:pPr>
            <a:r>
              <a:rPr lang="en-US" sz="540" dirty="0">
                <a:solidFill>
                  <a:srgbClr val="7569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⊤</a:t>
            </a:r>
            <a:pPr algn="ctr" indent="0" marL="0">
              <a:lnSpc>
                <a:spcPts val="920"/>
              </a:lnSpc>
              <a:buNone/>
            </a:pPr>
            <a:r>
              <a:rPr lang="en-US" sz="680" dirty="0">
                <a:solidFill>
                  <a:srgbClr val="7569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/ √d</a:t>
            </a:r>
            <a:pPr algn="ctr" indent="0" marL="0">
              <a:lnSpc>
                <a:spcPts val="920"/>
              </a:lnSpc>
              <a:buNone/>
            </a:pPr>
            <a:r>
              <a:rPr lang="en-US" sz="680" baseline="-40000" dirty="0">
                <a:solidFill>
                  <a:srgbClr val="7569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</a:t>
            </a:r>
            <a:pPr algn="ctr" indent="0" marL="0">
              <a:lnSpc>
                <a:spcPts val="920"/>
              </a:lnSpc>
              <a:buNone/>
            </a:pPr>
            <a:r>
              <a:rPr lang="en-US" sz="680" dirty="0">
                <a:solidFill>
                  <a:srgbClr val="7569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)。Q は Target Prompt、T はその複製、R</a:t>
            </a:r>
            <a:pPr algn="ctr" indent="0" marL="0">
              <a:lnSpc>
                <a:spcPts val="920"/>
              </a:lnSpc>
              <a:buNone/>
            </a:pPr>
            <a:r>
              <a:rPr lang="en-US" sz="680" baseline="-40000" dirty="0">
                <a:solidFill>
                  <a:srgbClr val="7569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</a:t>
            </a:r>
            <a:pPr algn="ctr" indent="0" marL="0">
              <a:lnSpc>
                <a:spcPts val="920"/>
              </a:lnSpc>
              <a:buNone/>
            </a:pPr>
            <a:r>
              <a:rPr lang="en-US" sz="680" dirty="0">
                <a:solidFill>
                  <a:srgbClr val="7569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は Reference Prompt r</a:t>
            </a:r>
            <a:pPr algn="ctr" indent="0" marL="0">
              <a:lnSpc>
                <a:spcPts val="920"/>
              </a:lnSpc>
              <a:buNone/>
            </a:pPr>
            <a:endParaRPr lang="en-US" sz="680" dirty="0"/>
          </a:p>
          <a:p>
            <a:pPr algn="ctr" indent="0" marL="0">
              <a:lnSpc>
                <a:spcPts val="920"/>
              </a:lnSpc>
              <a:buNone/>
            </a:pPr>
            <a:r>
              <a:rPr lang="en-US" sz="680" dirty="0">
                <a:solidFill>
                  <a:srgbClr val="7569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softmax は文ごとに別々に計算。α は Reference Prompt 全体の割合、w はその中の配分。展示の α = 0.5</a:t>
            </a:r>
            <a:endParaRPr lang="en-US" sz="680" dirty="0"/>
          </a:p>
        </p:txBody>
      </p:sp>
      <p:sp>
        <p:nvSpPr>
          <p:cNvPr id="48" name="Shape 45"/>
          <p:cNvSpPr/>
          <p:nvPr/>
        </p:nvSpPr>
        <p:spPr>
          <a:xfrm>
            <a:off x="2468880" y="5632704"/>
            <a:ext cx="2345436" cy="182880"/>
          </a:xfrm>
          <a:prstGeom prst="roundRect">
            <a:avLst>
              <a:gd name="adj" fmla="val 15000"/>
            </a:avLst>
          </a:prstGeom>
          <a:solidFill>
            <a:srgbClr val="FF9A6B"/>
          </a:solidFill>
          <a:ln w="12700">
            <a:solidFill>
              <a:srgbClr val="FF9A6B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2468880" y="5632704"/>
            <a:ext cx="23454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80"/>
              </a:lnSpc>
              <a:buNone/>
            </a:pPr>
            <a:r>
              <a:rPr lang="en-US" sz="700" b="1" dirty="0">
                <a:solidFill>
                  <a:srgbClr val="1A0E0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0.5</a:t>
            </a:r>
            <a:endParaRPr lang="en-US" sz="700" dirty="0"/>
          </a:p>
        </p:txBody>
      </p:sp>
      <p:sp>
        <p:nvSpPr>
          <p:cNvPr id="50" name="Shape 47"/>
          <p:cNvSpPr/>
          <p:nvPr/>
        </p:nvSpPr>
        <p:spPr>
          <a:xfrm>
            <a:off x="4832604" y="5632704"/>
            <a:ext cx="1163574" cy="182880"/>
          </a:xfrm>
          <a:prstGeom prst="roundRect">
            <a:avLst>
              <a:gd name="adj" fmla="val 15000"/>
            </a:avLst>
          </a:prstGeom>
          <a:solidFill>
            <a:srgbClr val="FF6F93"/>
          </a:solidFill>
          <a:ln w="12700">
            <a:solidFill>
              <a:srgbClr val="FF6F93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4832604" y="5632704"/>
            <a:ext cx="11635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80"/>
              </a:lnSpc>
              <a:buNone/>
            </a:pPr>
            <a:r>
              <a:rPr lang="en-US" sz="700" b="1" dirty="0">
                <a:solidFill>
                  <a:srgbClr val="1A0E0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0.25</a:t>
            </a:r>
            <a:endParaRPr lang="en-US" sz="700" dirty="0"/>
          </a:p>
        </p:txBody>
      </p:sp>
      <p:sp>
        <p:nvSpPr>
          <p:cNvPr id="52" name="Shape 49"/>
          <p:cNvSpPr/>
          <p:nvPr/>
        </p:nvSpPr>
        <p:spPr>
          <a:xfrm>
            <a:off x="6014466" y="5632704"/>
            <a:ext cx="572643" cy="182880"/>
          </a:xfrm>
          <a:prstGeom prst="roundRect">
            <a:avLst>
              <a:gd name="adj" fmla="val 15000"/>
            </a:avLst>
          </a:prstGeom>
          <a:solidFill>
            <a:srgbClr val="5A4A48"/>
          </a:solidFill>
          <a:ln w="12700">
            <a:solidFill>
              <a:srgbClr val="5A4A48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6014466" y="5632704"/>
            <a:ext cx="57264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80"/>
              </a:lnSpc>
              <a:buNone/>
            </a:pPr>
            <a:r>
              <a:rPr lang="en-US" sz="700" b="1" dirty="0">
                <a:solidFill>
                  <a:srgbClr val="F8F1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0.125</a:t>
            </a:r>
            <a:endParaRPr lang="en-US" sz="700" dirty="0"/>
          </a:p>
        </p:txBody>
      </p:sp>
      <p:sp>
        <p:nvSpPr>
          <p:cNvPr id="54" name="Shape 51"/>
          <p:cNvSpPr/>
          <p:nvPr/>
        </p:nvSpPr>
        <p:spPr>
          <a:xfrm>
            <a:off x="6605397" y="5632704"/>
            <a:ext cx="572643" cy="182880"/>
          </a:xfrm>
          <a:prstGeom prst="roundRect">
            <a:avLst>
              <a:gd name="adj" fmla="val 15000"/>
            </a:avLst>
          </a:prstGeom>
          <a:solidFill>
            <a:srgbClr val="3F3433"/>
          </a:solidFill>
          <a:ln w="12700">
            <a:solidFill>
              <a:srgbClr val="3F3433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6605397" y="5632704"/>
            <a:ext cx="57264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80"/>
              </a:lnSpc>
              <a:buNone/>
            </a:pPr>
            <a:r>
              <a:rPr lang="en-US" sz="700" b="1" dirty="0">
                <a:solidFill>
                  <a:srgbClr val="F8F1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0.125</a:t>
            </a:r>
            <a:endParaRPr lang="en-US" sz="700" dirty="0"/>
          </a:p>
        </p:txBody>
      </p:sp>
      <p:sp>
        <p:nvSpPr>
          <p:cNvPr id="56" name="Text 53"/>
          <p:cNvSpPr txBox="1"/>
          <p:nvPr/>
        </p:nvSpPr>
        <p:spPr>
          <a:xfrm>
            <a:off x="2468880" y="5843016"/>
            <a:ext cx="4727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0"/>
              </a:lnSpc>
              <a:buNone/>
            </a:pPr>
            <a:r>
              <a:rPr lang="en-US" sz="680" dirty="0">
                <a:solidFill>
                  <a:srgbClr val="7569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例：α = 0.5、Reference Prompt 3つの weight が 2 / 1 / 1 → Target Prompt 0.5 · 各 Reference Prompt 0.25 / 0.125 / 0.125</a:t>
            </a:r>
            <a:pPr algn="l" indent="0" marL="0">
              <a:lnSpc>
                <a:spcPts val="920"/>
              </a:lnSpc>
              <a:buNone/>
            </a:pPr>
            <a:endParaRPr lang="en-US" sz="680" dirty="0"/>
          </a:p>
          <a:p>
            <a:pPr algn="l" indent="0" marL="0">
              <a:lnSpc>
                <a:spcPts val="920"/>
              </a:lnSpc>
              <a:buNone/>
            </a:pPr>
            <a:r>
              <a:rPr lang="en-US" sz="680" dirty="0">
                <a:solidFill>
                  <a:srgbClr val="7569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Reference Prompt の中でどのトークンを見るかは、Query と Key の近さで決まる。</a:t>
            </a:r>
            <a:endParaRPr lang="en-US" sz="680" dirty="0"/>
          </a:p>
        </p:txBody>
      </p:sp>
      <p:sp>
        <p:nvSpPr>
          <p:cNvPr id="57" name="Text 54"/>
          <p:cNvSpPr txBox="1"/>
          <p:nvPr/>
        </p:nvSpPr>
        <p:spPr>
          <a:xfrm>
            <a:off x="2468880" y="6181344"/>
            <a:ext cx="4727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700" b="1" dirty="0">
                <a:solidFill>
                  <a:srgbClr val="F8F1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画像に効いている PA の層  </a:t>
            </a:r>
            <a:pPr algn="l" indent="0" marL="0">
              <a:lnSpc>
                <a:spcPts val="970"/>
              </a:lnSpc>
              <a:buNone/>
            </a:pPr>
            <a:r>
              <a:rPr lang="en-US" sz="700" dirty="0">
                <a:solidFill>
                  <a:srgbClr val="AB9F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CLIP-L: 12層のうち 1〜10 層目（10層）· OpenCLIP bigG: 32層のうち 1〜30 層目（30層）</a:t>
            </a:r>
            <a:pPr algn="l" indent="0" marL="0">
              <a:lnSpc>
                <a:spcPts val="970"/>
              </a:lnSpc>
              <a:buNone/>
            </a:pPr>
            <a:endParaRPr lang="en-US" sz="700" dirty="0"/>
          </a:p>
          <a:p>
            <a:pPr algn="l" indent="0" marL="0">
              <a:lnSpc>
                <a:spcPts val="970"/>
              </a:lnSpc>
              <a:buNone/>
            </a:pPr>
            <a:r>
              <a:rPr lang="en-US" sz="700" dirty="0">
                <a:solidFill>
                  <a:srgbClr val="AB9F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 層目だけ SA のまま（skip_pa）、hidden states は最終層の1つ手前から取る（skip = −2）。</a:t>
            </a:r>
            <a:endParaRPr lang="en-US" sz="700" dirty="0"/>
          </a:p>
        </p:txBody>
      </p:sp>
      <p:sp>
        <p:nvSpPr>
          <p:cNvPr id="58" name="Text 55"/>
          <p:cNvSpPr txBox="1"/>
          <p:nvPr/>
        </p:nvSpPr>
        <p:spPr>
          <a:xfrm>
            <a:off x="365760" y="4792234"/>
            <a:ext cx="1938528" cy="1700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0"/>
              </a:lnSpc>
              <a:buNone/>
            </a:pPr>
            <a:r>
              <a:rPr lang="en-US" sz="680" b="1" dirty="0">
                <a:solidFill>
                  <a:srgbClr val="F8F1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(a) Tailored profiling </a:t>
            </a:r>
            <a:pPr algn="l" indent="0" marL="0">
              <a:lnSpc>
                <a:spcPts val="940"/>
              </a:lnSpc>
              <a:buNone/>
            </a:pPr>
            <a:r>
              <a:rPr lang="en-US" sz="680" dirty="0">
                <a:solidFill>
                  <a:srgbClr val="AB9F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Reference Prompt（青）から Target Prompt（赤）に対する代表を選ぶ。</a:t>
            </a:r>
            <a:pPr algn="l" indent="0" marL="0">
              <a:lnSpc>
                <a:spcPts val="940"/>
              </a:lnSpc>
              <a:buNone/>
            </a:pPr>
            <a:endParaRPr lang="en-US" sz="680" dirty="0"/>
          </a:p>
          <a:p>
            <a:pPr algn="l" indent="0" marL="0">
              <a:lnSpc>
                <a:spcPts val="940"/>
              </a:lnSpc>
              <a:buNone/>
            </a:pPr>
            <a:r>
              <a:rPr lang="en-US" sz="680" b="1" dirty="0">
                <a:solidFill>
                  <a:srgbClr val="F8F1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(b) Personalized attention </a:t>
            </a:r>
            <a:pPr algn="l" indent="0" marL="0">
              <a:lnSpc>
                <a:spcPts val="940"/>
              </a:lnSpc>
              <a:buNone/>
            </a:pPr>
            <a:r>
              <a:rPr lang="en-US" sz="680" dirty="0">
                <a:solidFill>
                  <a:srgbClr val="AB9F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Target Prompt のトークンが Reference Prompt にも self-attention を向ける。重みは共有。</a:t>
            </a:r>
            <a:pPr algn="l" indent="0" marL="0">
              <a:lnSpc>
                <a:spcPts val="940"/>
              </a:lnSpc>
              <a:buNone/>
            </a:pPr>
            <a:endParaRPr lang="en-US" sz="680" dirty="0"/>
          </a:p>
          <a:p>
            <a:pPr algn="l" indent="0" marL="0">
              <a:lnSpc>
                <a:spcPts val="940"/>
              </a:lnSpc>
              <a:buNone/>
            </a:pPr>
            <a:r>
              <a:rPr lang="en-US" sz="680" b="1" dirty="0">
                <a:solidFill>
                  <a:srgbClr val="F8F1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(c) Conditioning optimization </a:t>
            </a:r>
            <a:pPr algn="l" indent="0" marL="0">
              <a:lnSpc>
                <a:spcPts val="940"/>
              </a:lnSpc>
              <a:buNone/>
            </a:pPr>
            <a:r>
              <a:rPr lang="en-US" sz="680" dirty="0">
                <a:solidFill>
                  <a:srgbClr val="AB9F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 と SA の層を組み合わせ、Target Prompt を保って好みを反映。</a:t>
            </a:r>
            <a:pPr algn="l" indent="0" marL="0">
              <a:lnSpc>
                <a:spcPts val="940"/>
              </a:lnSpc>
              <a:buNone/>
            </a:pPr>
            <a:endParaRPr lang="en-US" sz="680" dirty="0"/>
          </a:p>
          <a:p>
            <a:pPr algn="l" indent="0" marL="0">
              <a:lnSpc>
                <a:spcPts val="940"/>
              </a:lnSpc>
              <a:buNone/>
            </a:pPr>
            <a:r>
              <a:rPr lang="en-US" sz="600" dirty="0">
                <a:solidFill>
                  <a:srgbClr val="7569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図: github.com/Burf/FAN の asset/method.png</a:t>
            </a:r>
            <a:pPr algn="l" indent="0" marL="0">
              <a:lnSpc>
                <a:spcPts val="940"/>
              </a:lnSpc>
              <a:buNone/>
            </a:pPr>
            <a:endParaRPr lang="en-US" sz="680" dirty="0"/>
          </a:p>
          <a:p>
            <a:pPr algn="l" indent="0" marL="0">
              <a:lnSpc>
                <a:spcPts val="940"/>
              </a:lnSpc>
              <a:buNone/>
            </a:pPr>
            <a:r>
              <a:rPr lang="en-US" sz="600" dirty="0">
                <a:solidFill>
                  <a:srgbClr val="7569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（© 2026 Hyungjin Kim, MIT License）</a:t>
            </a:r>
            <a:endParaRPr lang="en-US" sz="680" dirty="0"/>
          </a:p>
        </p:txBody>
      </p:sp>
      <p:sp>
        <p:nvSpPr>
          <p:cNvPr id="59" name="Text 56"/>
          <p:cNvSpPr txBox="1"/>
          <p:nvPr/>
        </p:nvSpPr>
        <p:spPr>
          <a:xfrm>
            <a:off x="365760" y="6583680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FF9A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100" dirty="0"/>
          </a:p>
        </p:txBody>
      </p:sp>
      <p:sp>
        <p:nvSpPr>
          <p:cNvPr id="60" name="Text 57"/>
          <p:cNvSpPr txBox="1"/>
          <p:nvPr/>
        </p:nvSpPr>
        <p:spPr>
          <a:xfrm>
            <a:off x="694944" y="6583680"/>
            <a:ext cx="6501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8F1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Reference Prompt の作り方</a:t>
            </a:r>
            <a:endParaRPr lang="en-US" sz="1350" dirty="0"/>
          </a:p>
        </p:txBody>
      </p:sp>
      <p:pic>
        <p:nvPicPr>
          <p:cNvPr id="61" name="Image 1" descr="/tmp/claude-1000/-home-tomoya-stable-diffusion-personalized-t2i/0770d818-38a0-4eb6-a96d-f7206b93f0e9/scratchpad/flyer/img/girl-c0-l0-t0-m2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912864"/>
            <a:ext cx="914400" cy="1143000"/>
          </a:xfrm>
          <a:prstGeom prst="rect">
            <a:avLst/>
          </a:prstGeom>
        </p:spPr>
      </p:pic>
      <p:sp>
        <p:nvSpPr>
          <p:cNvPr id="62" name="Text 58"/>
          <p:cNvSpPr txBox="1"/>
          <p:nvPr/>
        </p:nvSpPr>
        <p:spPr>
          <a:xfrm>
            <a:off x="1426464" y="691286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80"/>
              </a:lnSpc>
              <a:buNone/>
            </a:pPr>
            <a:r>
              <a:rPr lang="en-US" sz="840" b="1" dirty="0">
                <a:solidFill>
                  <a:srgbClr val="F8F1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例：カード「街角の少女」に付いている句</a:t>
            </a:r>
            <a:endParaRPr lang="en-US" sz="840" dirty="0"/>
          </a:p>
        </p:txBody>
      </p:sp>
      <p:sp>
        <p:nvSpPr>
          <p:cNvPr id="63" name="Shape 59"/>
          <p:cNvSpPr/>
          <p:nvPr/>
        </p:nvSpPr>
        <p:spPr>
          <a:xfrm>
            <a:off x="1426464" y="7187184"/>
            <a:ext cx="493776" cy="201168"/>
          </a:xfrm>
          <a:prstGeom prst="roundRect">
            <a:avLst>
              <a:gd name="adj" fmla="val 50000"/>
            </a:avLst>
          </a:prstGeom>
          <a:solidFill>
            <a:srgbClr val="221C1A"/>
          </a:solidFill>
          <a:ln w="12700">
            <a:solidFill>
              <a:srgbClr val="221C1A"/>
            </a:solidFill>
            <a:prstDash val="solid"/>
          </a:ln>
        </p:spPr>
      </p:sp>
      <p:sp>
        <p:nvSpPr>
          <p:cNvPr id="64" name="Text 60"/>
          <p:cNvSpPr txBox="1"/>
          <p:nvPr/>
        </p:nvSpPr>
        <p:spPr>
          <a:xfrm>
            <a:off x="1426464" y="7187184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40"/>
              </a:lnSpc>
              <a:buNone/>
            </a:pPr>
            <a:r>
              <a:rPr lang="en-US" sz="740" b="1" dirty="0">
                <a:solidFill>
                  <a:srgbClr val="FF9A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色</a:t>
            </a:r>
            <a:endParaRPr lang="en-US" sz="740" dirty="0"/>
          </a:p>
        </p:txBody>
      </p:sp>
      <p:sp>
        <p:nvSpPr>
          <p:cNvPr id="65" name="Text 61"/>
          <p:cNvSpPr txBox="1"/>
          <p:nvPr/>
        </p:nvSpPr>
        <p:spPr>
          <a:xfrm>
            <a:off x="1993392" y="7187184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20" dirty="0">
                <a:solidFill>
                  <a:srgbClr val="F8F1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warm color palette, amber tones</a:t>
            </a:r>
            <a:endParaRPr lang="en-US" sz="820" dirty="0"/>
          </a:p>
        </p:txBody>
      </p:sp>
      <p:sp>
        <p:nvSpPr>
          <p:cNvPr id="66" name="Shape 62"/>
          <p:cNvSpPr/>
          <p:nvPr/>
        </p:nvSpPr>
        <p:spPr>
          <a:xfrm>
            <a:off x="1426464" y="7411212"/>
            <a:ext cx="493776" cy="201168"/>
          </a:xfrm>
          <a:prstGeom prst="roundRect">
            <a:avLst>
              <a:gd name="adj" fmla="val 50000"/>
            </a:avLst>
          </a:prstGeom>
          <a:solidFill>
            <a:srgbClr val="221C1A"/>
          </a:solidFill>
          <a:ln w="12700">
            <a:solidFill>
              <a:srgbClr val="221C1A"/>
            </a:solidFill>
            <a:prstDash val="solid"/>
          </a:ln>
        </p:spPr>
      </p:sp>
      <p:sp>
        <p:nvSpPr>
          <p:cNvPr id="67" name="Text 63"/>
          <p:cNvSpPr txBox="1"/>
          <p:nvPr/>
        </p:nvSpPr>
        <p:spPr>
          <a:xfrm>
            <a:off x="1426464" y="7411212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40"/>
              </a:lnSpc>
              <a:buNone/>
            </a:pPr>
            <a:r>
              <a:rPr lang="en-US" sz="740" b="1" dirty="0">
                <a:solidFill>
                  <a:srgbClr val="FF9A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光</a:t>
            </a:r>
            <a:endParaRPr lang="en-US" sz="740" dirty="0"/>
          </a:p>
        </p:txBody>
      </p:sp>
      <p:sp>
        <p:nvSpPr>
          <p:cNvPr id="68" name="Text 64"/>
          <p:cNvSpPr txBox="1"/>
          <p:nvPr/>
        </p:nvSpPr>
        <p:spPr>
          <a:xfrm>
            <a:off x="1993392" y="7411212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20" dirty="0">
                <a:solidFill>
                  <a:srgbClr val="F8F1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overcast, diffused light, soft shadows</a:t>
            </a:r>
            <a:endParaRPr lang="en-US" sz="820" dirty="0"/>
          </a:p>
        </p:txBody>
      </p:sp>
      <p:sp>
        <p:nvSpPr>
          <p:cNvPr id="69" name="Shape 65"/>
          <p:cNvSpPr/>
          <p:nvPr/>
        </p:nvSpPr>
        <p:spPr>
          <a:xfrm>
            <a:off x="1426464" y="7635240"/>
            <a:ext cx="493776" cy="201168"/>
          </a:xfrm>
          <a:prstGeom prst="roundRect">
            <a:avLst>
              <a:gd name="adj" fmla="val 50000"/>
            </a:avLst>
          </a:prstGeom>
          <a:solidFill>
            <a:srgbClr val="221C1A"/>
          </a:solidFill>
          <a:ln w="12700">
            <a:solidFill>
              <a:srgbClr val="221C1A"/>
            </a:solidFill>
            <a:prstDash val="solid"/>
          </a:ln>
        </p:spPr>
      </p:sp>
      <p:sp>
        <p:nvSpPr>
          <p:cNvPr id="70" name="Text 66"/>
          <p:cNvSpPr txBox="1"/>
          <p:nvPr/>
        </p:nvSpPr>
        <p:spPr>
          <a:xfrm>
            <a:off x="1426464" y="7635240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40"/>
              </a:lnSpc>
              <a:buNone/>
            </a:pPr>
            <a:r>
              <a:rPr lang="en-US" sz="740" b="1" dirty="0">
                <a:solidFill>
                  <a:srgbClr val="FF9A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描画</a:t>
            </a:r>
            <a:endParaRPr lang="en-US" sz="740" dirty="0"/>
          </a:p>
        </p:txBody>
      </p:sp>
      <p:sp>
        <p:nvSpPr>
          <p:cNvPr id="71" name="Text 67"/>
          <p:cNvSpPr txBox="1"/>
          <p:nvPr/>
        </p:nvSpPr>
        <p:spPr>
          <a:xfrm>
            <a:off x="1993392" y="7635240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20" dirty="0">
                <a:solidFill>
                  <a:srgbClr val="F8F1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sketch, visible pencil lines, rough drawing</a:t>
            </a:r>
            <a:endParaRPr lang="en-US" sz="820" dirty="0"/>
          </a:p>
        </p:txBody>
      </p:sp>
      <p:sp>
        <p:nvSpPr>
          <p:cNvPr id="72" name="Shape 68"/>
          <p:cNvSpPr/>
          <p:nvPr/>
        </p:nvSpPr>
        <p:spPr>
          <a:xfrm>
            <a:off x="1426464" y="7859268"/>
            <a:ext cx="493776" cy="201168"/>
          </a:xfrm>
          <a:prstGeom prst="roundRect">
            <a:avLst>
              <a:gd name="adj" fmla="val 50000"/>
            </a:avLst>
          </a:prstGeom>
          <a:solidFill>
            <a:srgbClr val="221C1A"/>
          </a:solidFill>
          <a:ln w="12700">
            <a:solidFill>
              <a:srgbClr val="221C1A"/>
            </a:solidFill>
            <a:prstDash val="solid"/>
          </a:ln>
        </p:spPr>
      </p:sp>
      <p:sp>
        <p:nvSpPr>
          <p:cNvPr id="73" name="Text 69"/>
          <p:cNvSpPr txBox="1"/>
          <p:nvPr/>
        </p:nvSpPr>
        <p:spPr>
          <a:xfrm>
            <a:off x="1426464" y="7859268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40"/>
              </a:lnSpc>
              <a:buNone/>
            </a:pPr>
            <a:r>
              <a:rPr lang="en-US" sz="740" b="1" dirty="0">
                <a:solidFill>
                  <a:srgbClr val="FF9A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雰囲気</a:t>
            </a:r>
            <a:endParaRPr lang="en-US" sz="740" dirty="0"/>
          </a:p>
        </p:txBody>
      </p:sp>
      <p:sp>
        <p:nvSpPr>
          <p:cNvPr id="74" name="Text 70"/>
          <p:cNvSpPr txBox="1"/>
          <p:nvPr/>
        </p:nvSpPr>
        <p:spPr>
          <a:xfrm>
            <a:off x="1993392" y="7859268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20" dirty="0">
                <a:solidFill>
                  <a:srgbClr val="F8F1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serious, stern expression</a:t>
            </a:r>
            <a:endParaRPr lang="en-US" sz="820" dirty="0"/>
          </a:p>
        </p:txBody>
      </p:sp>
      <p:sp>
        <p:nvSpPr>
          <p:cNvPr id="75" name="Text 71"/>
          <p:cNvSpPr txBox="1"/>
          <p:nvPr/>
        </p:nvSpPr>
        <p:spPr>
          <a:xfrm>
            <a:off x="4261104" y="6912864"/>
            <a:ext cx="2935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20" b="1" dirty="0">
                <a:solidFill>
                  <a:srgbClr val="F8F1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被写体語を含めない</a:t>
            </a:r>
            <a:endParaRPr lang="en-US" sz="820" dirty="0"/>
          </a:p>
        </p:txBody>
      </p:sp>
      <p:sp>
        <p:nvSpPr>
          <p:cNvPr id="76" name="Text 72"/>
          <p:cNvSpPr txBox="1"/>
          <p:nvPr/>
        </p:nvSpPr>
        <p:spPr>
          <a:xfrm>
            <a:off x="4261104" y="7068312"/>
            <a:ext cx="29352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760" dirty="0">
                <a:solidFill>
                  <a:srgbClr val="AB9F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句は色・光・描画・雰囲気の表現だけ。</a:t>
            </a:r>
            <a:endParaRPr lang="en-US" sz="760" dirty="0"/>
          </a:p>
        </p:txBody>
      </p:sp>
      <p:sp>
        <p:nvSpPr>
          <p:cNvPr id="77" name="Text 73"/>
          <p:cNvSpPr txBox="1"/>
          <p:nvPr/>
        </p:nvSpPr>
        <p:spPr>
          <a:xfrm>
            <a:off x="4261104" y="7228332"/>
            <a:ext cx="2935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20" b="1" dirty="0">
                <a:solidFill>
                  <a:srgbClr val="F8F1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重み = strength × aspect_gain</a:t>
            </a:r>
            <a:endParaRPr lang="en-US" sz="820" dirty="0"/>
          </a:p>
        </p:txBody>
      </p:sp>
      <p:sp>
        <p:nvSpPr>
          <p:cNvPr id="78" name="Text 74"/>
          <p:cNvSpPr txBox="1"/>
          <p:nvPr/>
        </p:nvSpPr>
        <p:spPr>
          <a:xfrm>
            <a:off x="4261104" y="7383780"/>
            <a:ext cx="29352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760" dirty="0">
                <a:solidFill>
                  <a:srgbClr val="AB9F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カードの強さ × 項目（色・光など）ごとの倍率。</a:t>
            </a:r>
            <a:endParaRPr lang="en-US" sz="760" dirty="0"/>
          </a:p>
        </p:txBody>
      </p:sp>
      <p:sp>
        <p:nvSpPr>
          <p:cNvPr id="79" name="Text 75"/>
          <p:cNvSpPr txBox="1"/>
          <p:nvPr/>
        </p:nvSpPr>
        <p:spPr>
          <a:xfrm>
            <a:off x="4261104" y="7543800"/>
            <a:ext cx="2935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20" b="1" dirty="0">
                <a:solidFill>
                  <a:srgbClr val="F8F1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同じ句は1件にまとめる</a:t>
            </a:r>
            <a:endParaRPr lang="en-US" sz="820" dirty="0"/>
          </a:p>
        </p:txBody>
      </p:sp>
      <p:sp>
        <p:nvSpPr>
          <p:cNvPr id="80" name="Text 76"/>
          <p:cNvSpPr txBox="1"/>
          <p:nvPr/>
        </p:nvSpPr>
        <p:spPr>
          <a:xfrm>
            <a:off x="4261104" y="7699248"/>
            <a:ext cx="29352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760" dirty="0">
                <a:solidFill>
                  <a:srgbClr val="AB9F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複数のカードで重なったら weight を合算。</a:t>
            </a:r>
            <a:endParaRPr lang="en-US" sz="760" dirty="0"/>
          </a:p>
        </p:txBody>
      </p:sp>
      <p:sp>
        <p:nvSpPr>
          <p:cNvPr id="81" name="Text 77"/>
          <p:cNvSpPr txBox="1"/>
          <p:nvPr/>
        </p:nvSpPr>
        <p:spPr>
          <a:xfrm>
            <a:off x="4261104" y="7859268"/>
            <a:ext cx="2935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20" b="1" dirty="0">
                <a:solidFill>
                  <a:srgbClr val="F8F1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「外す」は取り除く</a:t>
            </a:r>
            <a:endParaRPr lang="en-US" sz="820" dirty="0"/>
          </a:p>
        </p:txBody>
      </p:sp>
      <p:sp>
        <p:nvSpPr>
          <p:cNvPr id="82" name="Text 78"/>
          <p:cNvSpPr txBox="1"/>
          <p:nvPr/>
        </p:nvSpPr>
        <p:spPr>
          <a:xfrm>
            <a:off x="4261104" y="8014716"/>
            <a:ext cx="29352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760" dirty="0">
                <a:solidFill>
                  <a:srgbClr val="AB9F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負の重みにはしない。</a:t>
            </a:r>
            <a:endParaRPr lang="en-US" sz="760" dirty="0"/>
          </a:p>
        </p:txBody>
      </p:sp>
      <p:sp>
        <p:nvSpPr>
          <p:cNvPr id="83" name="Text 79"/>
          <p:cNvSpPr txBox="1"/>
          <p:nvPr/>
        </p:nvSpPr>
        <p:spPr>
          <a:xfrm>
            <a:off x="365760" y="8284464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FF9A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100" dirty="0"/>
          </a:p>
        </p:txBody>
      </p:sp>
      <p:sp>
        <p:nvSpPr>
          <p:cNvPr id="84" name="Text 80"/>
          <p:cNvSpPr txBox="1"/>
          <p:nvPr/>
        </p:nvSpPr>
        <p:spPr>
          <a:xfrm>
            <a:off x="694944" y="8284464"/>
            <a:ext cx="29946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8F1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検証で決めた設定</a:t>
            </a:r>
            <a:endParaRPr lang="en-US" sz="1350" dirty="0"/>
          </a:p>
        </p:txBody>
      </p:sp>
      <p:sp>
        <p:nvSpPr>
          <p:cNvPr id="85" name="Text 81"/>
          <p:cNvSpPr txBox="1"/>
          <p:nvPr/>
        </p:nvSpPr>
        <p:spPr>
          <a:xfrm>
            <a:off x="3872484" y="8284464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FF9A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100" dirty="0"/>
          </a:p>
        </p:txBody>
      </p:sp>
      <p:sp>
        <p:nvSpPr>
          <p:cNvPr id="86" name="Text 82"/>
          <p:cNvSpPr txBox="1"/>
          <p:nvPr/>
        </p:nvSpPr>
        <p:spPr>
          <a:xfrm>
            <a:off x="4201668" y="8284464"/>
            <a:ext cx="29946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8F1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生成設定</a:t>
            </a:r>
            <a:endParaRPr lang="en-US" sz="1350" dirty="0"/>
          </a:p>
        </p:txBody>
      </p:sp>
      <p:sp>
        <p:nvSpPr>
          <p:cNvPr id="87" name="Shape 83"/>
          <p:cNvSpPr/>
          <p:nvPr/>
        </p:nvSpPr>
        <p:spPr>
          <a:xfrm>
            <a:off x="365760" y="8613648"/>
            <a:ext cx="3323844" cy="292608"/>
          </a:xfrm>
          <a:prstGeom prst="roundRect">
            <a:avLst>
              <a:gd name="adj" fmla="val 12500"/>
            </a:avLst>
          </a:prstGeom>
          <a:solidFill>
            <a:srgbClr val="191514"/>
          </a:solidFill>
          <a:ln w="12700">
            <a:solidFill>
              <a:srgbClr val="191514"/>
            </a:solidFill>
            <a:prstDash val="solid"/>
          </a:ln>
        </p:spPr>
      </p:sp>
      <p:sp>
        <p:nvSpPr>
          <p:cNvPr id="88" name="Text 84"/>
          <p:cNvSpPr txBox="1"/>
          <p:nvPr/>
        </p:nvSpPr>
        <p:spPr>
          <a:xfrm>
            <a:off x="438912" y="86136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80" b="1" dirty="0">
                <a:solidFill>
                  <a:srgbClr val="FF9A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skip_pa</a:t>
            </a:r>
            <a:endParaRPr lang="en-US" sz="780" dirty="0"/>
          </a:p>
        </p:txBody>
      </p:sp>
      <p:sp>
        <p:nvSpPr>
          <p:cNvPr id="89" name="Text 85"/>
          <p:cNvSpPr txBox="1"/>
          <p:nvPr/>
        </p:nvSpPr>
        <p:spPr>
          <a:xfrm>
            <a:off x="1371600" y="861364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80" b="1" dirty="0">
                <a:solidFill>
                  <a:srgbClr val="F8F1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</a:t>
            </a:r>
            <a:endParaRPr lang="en-US" sz="780" dirty="0"/>
          </a:p>
        </p:txBody>
      </p:sp>
      <p:sp>
        <p:nvSpPr>
          <p:cNvPr id="90" name="Text 86"/>
          <p:cNvSpPr txBox="1"/>
          <p:nvPr/>
        </p:nvSpPr>
        <p:spPr>
          <a:xfrm>
            <a:off x="1737360" y="8613648"/>
            <a:ext cx="18790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720" dirty="0">
                <a:solidFill>
                  <a:srgbClr val="AB9F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 層目だけ PA なし（公式と同じ）</a:t>
            </a:r>
            <a:endParaRPr lang="en-US" sz="720" dirty="0"/>
          </a:p>
        </p:txBody>
      </p:sp>
      <p:sp>
        <p:nvSpPr>
          <p:cNvPr id="91" name="Text 87"/>
          <p:cNvSpPr txBox="1"/>
          <p:nvPr/>
        </p:nvSpPr>
        <p:spPr>
          <a:xfrm>
            <a:off x="438912" y="890625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80" b="1" dirty="0">
                <a:solidFill>
                  <a:srgbClr val="FF9A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use_attn_mask</a:t>
            </a:r>
            <a:endParaRPr lang="en-US" sz="780" dirty="0"/>
          </a:p>
        </p:txBody>
      </p:sp>
      <p:sp>
        <p:nvSpPr>
          <p:cNvPr id="92" name="Text 88"/>
          <p:cNvSpPr txBox="1"/>
          <p:nvPr/>
        </p:nvSpPr>
        <p:spPr>
          <a:xfrm>
            <a:off x="1371600" y="890625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80" b="1" dirty="0">
                <a:solidFill>
                  <a:srgbClr val="F8F1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true</a:t>
            </a:r>
            <a:endParaRPr lang="en-US" sz="780" dirty="0"/>
          </a:p>
        </p:txBody>
      </p:sp>
      <p:sp>
        <p:nvSpPr>
          <p:cNvPr id="93" name="Text 89"/>
          <p:cNvSpPr txBox="1"/>
          <p:nvPr/>
        </p:nvSpPr>
        <p:spPr>
          <a:xfrm>
            <a:off x="1737360" y="8906256"/>
            <a:ext cx="18790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720" dirty="0">
                <a:solidFill>
                  <a:srgbClr val="AB9F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Reference Prompt の padding を無視し、好みと無関係な「もや」を防ぐ</a:t>
            </a:r>
            <a:endParaRPr lang="en-US" sz="720" dirty="0"/>
          </a:p>
        </p:txBody>
      </p:sp>
      <p:sp>
        <p:nvSpPr>
          <p:cNvPr id="94" name="Shape 90"/>
          <p:cNvSpPr/>
          <p:nvPr/>
        </p:nvSpPr>
        <p:spPr>
          <a:xfrm>
            <a:off x="365760" y="9198864"/>
            <a:ext cx="3323844" cy="292608"/>
          </a:xfrm>
          <a:prstGeom prst="roundRect">
            <a:avLst>
              <a:gd name="adj" fmla="val 12500"/>
            </a:avLst>
          </a:prstGeom>
          <a:solidFill>
            <a:srgbClr val="191514"/>
          </a:solidFill>
          <a:ln w="12700">
            <a:solidFill>
              <a:srgbClr val="191514"/>
            </a:solidFill>
            <a:prstDash val="solid"/>
          </a:ln>
        </p:spPr>
      </p:sp>
      <p:sp>
        <p:nvSpPr>
          <p:cNvPr id="95" name="Text 91"/>
          <p:cNvSpPr txBox="1"/>
          <p:nvPr/>
        </p:nvSpPr>
        <p:spPr>
          <a:xfrm>
            <a:off x="438912" y="919886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80" b="1" dirty="0">
                <a:solidFill>
                  <a:srgbClr val="FF9A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alpha</a:t>
            </a:r>
            <a:endParaRPr lang="en-US" sz="780" dirty="0"/>
          </a:p>
        </p:txBody>
      </p:sp>
      <p:sp>
        <p:nvSpPr>
          <p:cNvPr id="96" name="Text 92"/>
          <p:cNvSpPr txBox="1"/>
          <p:nvPr/>
        </p:nvSpPr>
        <p:spPr>
          <a:xfrm>
            <a:off x="1371600" y="919886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80" b="1" dirty="0">
                <a:solidFill>
                  <a:srgbClr val="F8F1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0.5</a:t>
            </a:r>
            <a:endParaRPr lang="en-US" sz="780" dirty="0"/>
          </a:p>
        </p:txBody>
      </p:sp>
      <p:sp>
        <p:nvSpPr>
          <p:cNvPr id="97" name="Text 93"/>
          <p:cNvSpPr txBox="1"/>
          <p:nvPr/>
        </p:nvSpPr>
        <p:spPr>
          <a:xfrm>
            <a:off x="1737360" y="9198864"/>
            <a:ext cx="18790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720" dirty="0">
                <a:solidFill>
                  <a:srgbClr val="AB9F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好みが両方向に効き、被写体も保たれる値</a:t>
            </a:r>
            <a:endParaRPr lang="en-US" sz="720" dirty="0"/>
          </a:p>
        </p:txBody>
      </p:sp>
      <p:sp>
        <p:nvSpPr>
          <p:cNvPr id="98" name="Text 94"/>
          <p:cNvSpPr txBox="1"/>
          <p:nvPr/>
        </p:nvSpPr>
        <p:spPr>
          <a:xfrm>
            <a:off x="438912" y="949147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80" b="1" dirty="0">
                <a:solidFill>
                  <a:srgbClr val="FF9A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pooled_mode</a:t>
            </a:r>
            <a:endParaRPr lang="en-US" sz="780" dirty="0"/>
          </a:p>
        </p:txBody>
      </p:sp>
      <p:sp>
        <p:nvSpPr>
          <p:cNvPr id="99" name="Text 95"/>
          <p:cNvSpPr txBox="1"/>
          <p:nvPr/>
        </p:nvSpPr>
        <p:spPr>
          <a:xfrm>
            <a:off x="1371600" y="949147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80" b="1" dirty="0">
                <a:solidFill>
                  <a:srgbClr val="F8F1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plain</a:t>
            </a:r>
            <a:endParaRPr lang="en-US" sz="780" dirty="0"/>
          </a:p>
        </p:txBody>
      </p:sp>
      <p:sp>
        <p:nvSpPr>
          <p:cNvPr id="100" name="Text 96"/>
          <p:cNvSpPr txBox="1"/>
          <p:nvPr/>
        </p:nvSpPr>
        <p:spPr>
          <a:xfrm>
            <a:off x="1737360" y="9491472"/>
            <a:ext cx="18790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720" dirty="0">
                <a:solidFill>
                  <a:srgbClr val="AB9F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pooled 埋め込みは Reference Prompt なしの値（公式からの逸脱）</a:t>
            </a:r>
            <a:endParaRPr lang="en-US" sz="720" dirty="0"/>
          </a:p>
        </p:txBody>
      </p:sp>
      <p:sp>
        <p:nvSpPr>
          <p:cNvPr id="101" name="Shape 97"/>
          <p:cNvSpPr/>
          <p:nvPr/>
        </p:nvSpPr>
        <p:spPr>
          <a:xfrm>
            <a:off x="3872484" y="8613648"/>
            <a:ext cx="3323844" cy="195072"/>
          </a:xfrm>
          <a:prstGeom prst="roundRect">
            <a:avLst>
              <a:gd name="adj" fmla="val 18750"/>
            </a:avLst>
          </a:prstGeom>
          <a:solidFill>
            <a:srgbClr val="191514"/>
          </a:solidFill>
          <a:ln w="12700">
            <a:solidFill>
              <a:srgbClr val="191514"/>
            </a:solidFill>
            <a:prstDash val="solid"/>
          </a:ln>
        </p:spPr>
      </p:sp>
      <p:sp>
        <p:nvSpPr>
          <p:cNvPr id="102" name="Text 98"/>
          <p:cNvSpPr txBox="1"/>
          <p:nvPr/>
        </p:nvSpPr>
        <p:spPr>
          <a:xfrm>
            <a:off x="3945636" y="8613648"/>
            <a:ext cx="100584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80" b="1" dirty="0">
                <a:solidFill>
                  <a:srgbClr val="FF9A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生成モデル</a:t>
            </a:r>
            <a:endParaRPr lang="en-US" sz="780" dirty="0"/>
          </a:p>
        </p:txBody>
      </p:sp>
      <p:sp>
        <p:nvSpPr>
          <p:cNvPr id="103" name="Text 99"/>
          <p:cNvSpPr txBox="1"/>
          <p:nvPr/>
        </p:nvSpPr>
        <p:spPr>
          <a:xfrm>
            <a:off x="4969764" y="8613648"/>
            <a:ext cx="2153412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80" dirty="0">
                <a:solidFill>
                  <a:srgbClr val="AB9F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Illustrious XL v2.0</a:t>
            </a:r>
            <a:endParaRPr lang="en-US" sz="780" dirty="0"/>
          </a:p>
        </p:txBody>
      </p:sp>
      <p:sp>
        <p:nvSpPr>
          <p:cNvPr id="104" name="Text 100"/>
          <p:cNvSpPr txBox="1"/>
          <p:nvPr/>
        </p:nvSpPr>
        <p:spPr>
          <a:xfrm>
            <a:off x="3945636" y="8808720"/>
            <a:ext cx="100584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80" b="1" dirty="0">
                <a:solidFill>
                  <a:srgbClr val="FF9A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解像度 / steps</a:t>
            </a:r>
            <a:endParaRPr lang="en-US" sz="780" dirty="0"/>
          </a:p>
        </p:txBody>
      </p:sp>
      <p:sp>
        <p:nvSpPr>
          <p:cNvPr id="105" name="Text 101"/>
          <p:cNvSpPr txBox="1"/>
          <p:nvPr/>
        </p:nvSpPr>
        <p:spPr>
          <a:xfrm>
            <a:off x="4969764" y="8808720"/>
            <a:ext cx="2153412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80" dirty="0">
                <a:solidFill>
                  <a:srgbClr val="AB9F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1024 × 1280 / 30</a:t>
            </a:r>
            <a:endParaRPr lang="en-US" sz="780" dirty="0"/>
          </a:p>
        </p:txBody>
      </p:sp>
      <p:sp>
        <p:nvSpPr>
          <p:cNvPr id="106" name="Shape 102"/>
          <p:cNvSpPr/>
          <p:nvPr/>
        </p:nvSpPr>
        <p:spPr>
          <a:xfrm>
            <a:off x="3872484" y="9003792"/>
            <a:ext cx="3323844" cy="195072"/>
          </a:xfrm>
          <a:prstGeom prst="roundRect">
            <a:avLst>
              <a:gd name="adj" fmla="val 18750"/>
            </a:avLst>
          </a:prstGeom>
          <a:solidFill>
            <a:srgbClr val="191514"/>
          </a:solidFill>
          <a:ln w="12700">
            <a:solidFill>
              <a:srgbClr val="191514"/>
            </a:solidFill>
            <a:prstDash val="solid"/>
          </a:ln>
        </p:spPr>
      </p:sp>
      <p:sp>
        <p:nvSpPr>
          <p:cNvPr id="107" name="Text 103"/>
          <p:cNvSpPr txBox="1"/>
          <p:nvPr/>
        </p:nvSpPr>
        <p:spPr>
          <a:xfrm>
            <a:off x="3945636" y="9003792"/>
            <a:ext cx="100584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80" b="1" dirty="0">
                <a:solidFill>
                  <a:srgbClr val="FF9A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sampler</a:t>
            </a:r>
            <a:endParaRPr lang="en-US" sz="780" dirty="0"/>
          </a:p>
        </p:txBody>
      </p:sp>
      <p:sp>
        <p:nvSpPr>
          <p:cNvPr id="108" name="Text 104"/>
          <p:cNvSpPr txBox="1"/>
          <p:nvPr/>
        </p:nvSpPr>
        <p:spPr>
          <a:xfrm>
            <a:off x="4969764" y="9003792"/>
            <a:ext cx="2153412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80" dirty="0">
                <a:solidFill>
                  <a:srgbClr val="AB9F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DPM++ 2M SDE Karras</a:t>
            </a:r>
            <a:endParaRPr lang="en-US" sz="780" dirty="0"/>
          </a:p>
        </p:txBody>
      </p:sp>
      <p:sp>
        <p:nvSpPr>
          <p:cNvPr id="109" name="Text 105"/>
          <p:cNvSpPr txBox="1"/>
          <p:nvPr/>
        </p:nvSpPr>
        <p:spPr>
          <a:xfrm>
            <a:off x="3945636" y="9198864"/>
            <a:ext cx="100584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80" b="1" dirty="0">
                <a:solidFill>
                  <a:srgbClr val="FF9A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CFG / 精度</a:t>
            </a:r>
            <a:endParaRPr lang="en-US" sz="780" dirty="0"/>
          </a:p>
        </p:txBody>
      </p:sp>
      <p:sp>
        <p:nvSpPr>
          <p:cNvPr id="110" name="Text 106"/>
          <p:cNvSpPr txBox="1"/>
          <p:nvPr/>
        </p:nvSpPr>
        <p:spPr>
          <a:xfrm>
            <a:off x="4969764" y="9198864"/>
            <a:ext cx="2153412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80" dirty="0">
                <a:solidFill>
                  <a:srgbClr val="AB9F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5.0 / fp16</a:t>
            </a:r>
            <a:endParaRPr lang="en-US" sz="780" dirty="0"/>
          </a:p>
        </p:txBody>
      </p:sp>
      <p:sp>
        <p:nvSpPr>
          <p:cNvPr id="111" name="Shape 107"/>
          <p:cNvSpPr/>
          <p:nvPr/>
        </p:nvSpPr>
        <p:spPr>
          <a:xfrm>
            <a:off x="3872484" y="9393936"/>
            <a:ext cx="3323844" cy="195072"/>
          </a:xfrm>
          <a:prstGeom prst="roundRect">
            <a:avLst>
              <a:gd name="adj" fmla="val 18750"/>
            </a:avLst>
          </a:prstGeom>
          <a:solidFill>
            <a:srgbClr val="191514"/>
          </a:solidFill>
          <a:ln w="12700">
            <a:solidFill>
              <a:srgbClr val="191514"/>
            </a:solidFill>
            <a:prstDash val="solid"/>
          </a:ln>
        </p:spPr>
      </p:sp>
      <p:sp>
        <p:nvSpPr>
          <p:cNvPr id="112" name="Text 108"/>
          <p:cNvSpPr txBox="1"/>
          <p:nvPr/>
        </p:nvSpPr>
        <p:spPr>
          <a:xfrm>
            <a:off x="3945636" y="9393936"/>
            <a:ext cx="100584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80" b="1" dirty="0">
                <a:solidFill>
                  <a:srgbClr val="FF9A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VAE</a:t>
            </a:r>
            <a:endParaRPr lang="en-US" sz="780" dirty="0"/>
          </a:p>
        </p:txBody>
      </p:sp>
      <p:sp>
        <p:nvSpPr>
          <p:cNvPr id="113" name="Text 109"/>
          <p:cNvSpPr txBox="1"/>
          <p:nvPr/>
        </p:nvSpPr>
        <p:spPr>
          <a:xfrm>
            <a:off x="4969764" y="9393936"/>
            <a:ext cx="2153412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80" dirty="0">
                <a:solidFill>
                  <a:srgbClr val="AB9F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sdxl-vae-fp16-fix</a:t>
            </a:r>
            <a:endParaRPr lang="en-US" sz="780" dirty="0"/>
          </a:p>
        </p:txBody>
      </p:sp>
      <p:sp>
        <p:nvSpPr>
          <p:cNvPr id="114" name="Text 110"/>
          <p:cNvSpPr txBox="1"/>
          <p:nvPr/>
        </p:nvSpPr>
        <p:spPr>
          <a:xfrm>
            <a:off x="3945636" y="9589008"/>
            <a:ext cx="1005840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80" b="1" dirty="0">
                <a:solidFill>
                  <a:srgbClr val="FF9A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seed</a:t>
            </a:r>
            <a:endParaRPr lang="en-US" sz="780" dirty="0"/>
          </a:p>
        </p:txBody>
      </p:sp>
      <p:sp>
        <p:nvSpPr>
          <p:cNvPr id="115" name="Text 111"/>
          <p:cNvSpPr txBox="1"/>
          <p:nvPr/>
        </p:nvSpPr>
        <p:spPr>
          <a:xfrm>
            <a:off x="4969764" y="9589008"/>
            <a:ext cx="2153412" cy="195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780" dirty="0">
                <a:solidFill>
                  <a:srgbClr val="AB9F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230923〜230926（固定）</a:t>
            </a:r>
            <a:endParaRPr lang="en-US" sz="780" dirty="0"/>
          </a:p>
        </p:txBody>
      </p:sp>
      <p:pic>
        <p:nvPicPr>
          <p:cNvPr id="116" name="Image 2" descr="/tmp/claude-1000/-home-tomoya-stable-diffusion-personalized-t2i/0770d818-38a0-4eb6-a96d-f7206b93f0e9/scratchpad/flyer/img/qr-githu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5980" y="9957816"/>
            <a:ext cx="457200" cy="457200"/>
          </a:xfrm>
          <a:prstGeom prst="rect">
            <a:avLst/>
          </a:prstGeom>
        </p:spPr>
      </p:pic>
      <p:sp>
        <p:nvSpPr>
          <p:cNvPr id="117" name="Text 112"/>
          <p:cNvSpPr txBox="1"/>
          <p:nvPr/>
        </p:nvSpPr>
        <p:spPr>
          <a:xfrm>
            <a:off x="2638044" y="995781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740" b="1" dirty="0">
                <a:solidFill>
                  <a:srgbClr val="F8F1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GitHub</a:t>
            </a:r>
            <a:pPr algn="l" indent="0" marL="0">
              <a:lnSpc>
                <a:spcPts val="930"/>
              </a:lnSpc>
              <a:buNone/>
            </a:pPr>
            <a:endParaRPr lang="en-US" sz="740" dirty="0"/>
          </a:p>
          <a:p>
            <a:pPr algn="l" indent="0" marL="0">
              <a:lnSpc>
                <a:spcPts val="930"/>
              </a:lnSpc>
              <a:buNone/>
            </a:pPr>
            <a:r>
              <a:rPr lang="en-US" sz="650" dirty="0">
                <a:solidFill>
                  <a:srgbClr val="AB9F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tmp-friends/</a:t>
            </a:r>
            <a:pPr algn="l" indent="0" marL="0">
              <a:lnSpc>
                <a:spcPts val="930"/>
              </a:lnSpc>
              <a:buNone/>
            </a:pPr>
            <a:endParaRPr lang="en-US" sz="740" dirty="0"/>
          </a:p>
          <a:p>
            <a:pPr algn="l" indent="0" marL="0">
              <a:lnSpc>
                <a:spcPts val="930"/>
              </a:lnSpc>
              <a:buNone/>
            </a:pPr>
            <a:r>
              <a:rPr lang="en-US" sz="650" dirty="0">
                <a:solidFill>
                  <a:srgbClr val="AB9F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personalized-t2i</a:t>
            </a:r>
            <a:endParaRPr lang="en-US" sz="740" dirty="0"/>
          </a:p>
        </p:txBody>
      </p:sp>
      <p:pic>
        <p:nvPicPr>
          <p:cNvPr id="118" name="Image 3" descr="/tmp/claude-1000/-home-tomoya-stable-diffusion-personalized-t2i/0770d818-38a0-4eb6-a96d-f7206b93f0e9/scratchpad/flyer/img/qr-x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6804" y="9957816"/>
            <a:ext cx="457200" cy="457200"/>
          </a:xfrm>
          <a:prstGeom prst="rect">
            <a:avLst/>
          </a:prstGeom>
        </p:spPr>
      </p:pic>
      <p:sp>
        <p:nvSpPr>
          <p:cNvPr id="119" name="Text 113"/>
          <p:cNvSpPr txBox="1"/>
          <p:nvPr/>
        </p:nvSpPr>
        <p:spPr>
          <a:xfrm>
            <a:off x="4658868" y="9957816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740" b="1" dirty="0">
                <a:solidFill>
                  <a:srgbClr val="F8F1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X</a:t>
            </a:r>
            <a:pPr algn="l" indent="0" marL="0">
              <a:lnSpc>
                <a:spcPts val="930"/>
              </a:lnSpc>
              <a:buNone/>
            </a:pPr>
            <a:endParaRPr lang="en-US" sz="740" dirty="0"/>
          </a:p>
          <a:p>
            <a:pPr algn="l" indent="0" marL="0">
              <a:lnSpc>
                <a:spcPts val="930"/>
              </a:lnSpc>
              <a:buNone/>
            </a:pPr>
            <a:r>
              <a:rPr lang="en-US" sz="650" dirty="0">
                <a:solidFill>
                  <a:srgbClr val="AB9F9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@tmp_friends</a:t>
            </a:r>
            <a:endParaRPr lang="en-US" sz="7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パーソナライズ画像生成 体験展示 チラシ</dc:title>
  <dc:subject>PptxGenJS Presentation</dc:subject>
  <dc:creator>PptxGenJS</dc:creator>
  <cp:lastModifiedBy>PptxGenJS</cp:lastModifiedBy>
  <cp:revision>1</cp:revision>
  <dcterms:created xsi:type="dcterms:W3CDTF">2026-09-22T15:15:15Z</dcterms:created>
  <dcterms:modified xsi:type="dcterms:W3CDTF">2026-09-22T15:15:15Z</dcterms:modified>
</cp:coreProperties>
</file>